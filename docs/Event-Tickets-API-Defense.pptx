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ជំរាបសួរ។ ថ្ងៃនេះ ខ្ញុំនឹងបង្ហាញ Event Tickets API — ជា REST API សម្រាប់កក់សំបុត្រព្រឹត្តិការណ៍។ ខ្ញុំនឹងពន្យល់ ច្បាប់អាជីវកម្មទាំង ៦ របៀបរចនា និងភស្តុតាងតាមរយៈ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នេះជាច្បាប់ ៦ ពីកិច្ចការផ្ទះ។ ច្បាប់ 1 និង 2 ទាក់ទងនឹងកៅអី — សំខាន់បំផុត ព្រោះមានបញ្ហា race condition។ ច្បាប់ 3 គឺ validation។ ច្បាប់ 4 គឺសុវត្ថិភាពតម្លៃ។ ច្បាប់ 5 គឺស្ថានភាព event។ ច្បាប់ 6 គឺភាពជាម្ចាស់។ ច្បាប់នីមួយៗ មាន HTTP status code ច្បាស់លាស់។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ខ្ញុំជ្រើស Spring Boot ព្រោះវាមាន Web, JPA, Security និង Validation រួចស្រេច។ H2 ជា database in-memory — មិនចាំបាច់ install អ្វីទាំងអស់ ងាយស្រួលសម្រាប់ homework។ Gradle wrapper ធ្វើឲ្យអ្នកណាក៏អាច build បាន ដោយមិនចាំបាច់ install Gradle។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ចូលតាម Security មុន — ពិនិត្យ login និង role។ បន្ទាប់មក Controller អាន JSON និងផ្ទៀងផ្ទាត់ input។ Service ជាកន្លែងច្បាប់អាជីវកម្មទាំងអស់។ Repository សរសេរ SQL។ Controller មិនដឹងអំពី SQL ហើយ Repository មិនដឹងអំពី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មាន endpoint ៧។ មើល events គឺ public។ បោះបង់ event គឺសម្រាប់ ADMIN។ ការកក់ទាំងអស់ សម្រាប់ CUSTOMER ហើយមើល ឬបោះបង់ booking បានតែម្ចាស់ប៉ុណ្ណោះ។ Error ទាំងអស់ ត្រឡប់ជា JSON ProblemDetail។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នេះជា "When" — ពេលណា error នីមួយៗ កើតឡើង។ យើងពិនិត្យ login មុន បន្ទាប់មក role បន្ទាប់មក input។ មានតែពេលទាំងអស់ត្រឹមត្រូវ ទើបយើងប៉ះ database។ ជំហានទី 4 ជាចំណុចសំខាន់បំផុត — ខ្ញុំនឹងពន្យល់នៅ slide បន្ទាប់។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នេះជាបញ្ហាសំខាន់បំផុតនៃ homework។ បើយើងអានចំនួនកៅអីសិន រួចសរសេរតាមក្រោយ អ្នកប្រើពីរនាក់ ដែលមកក្នុងពេលតែមួយ អាចអានឃើញ "នៅសល់ 1" ទាំងពីរនាក់។ ទាំងពីរនាក់ ក៏កក់បាន — លក់លើសកៅអី។ នេះហៅថា race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ដំណោះស្រាយ៖ ប្រើ SQL UPDATE តែមួយ។ លក្ខខណ្ឌ WHERE ជាការពិនិត្យ ហើយ SET ជាការសរសេរ។ Database lock row នោះ ដូច្នេះអ្នកប្រើទីពីរ ត្រូវរង់ចាំ ហើយពេលពិនិត្យម្តងទៀត ឃើញថា 0 កៅអី — បរាជ័យ។ UPDATE ត្រឡប់ចំនួន row ដែលបានកែ៖ 1 គឺជោគជ័យ 0 គឺយើង reload event ដើម្បីជ្រើស 404 ឬ 409។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បោះបង់ booking និងប្រគល់កៅអី ក្នុង transaction តែមួយ ហើយ lock row ដើម្បីកុំឲ្យប្រគល់កៅអីពីរដង។ R3៖ Bean Validation។ R4៖ request គ្មានកន្លែងដាក់តម្លៃទេ — បើ hacker ផ្ញើ price 0.01 វាត្រូវបានមិនអើពើ។ ប្រើ BigDecimal ព្រោះ double មានកំហុសលុយ។ R6៖ username មកពី login តែប៉ុណ្ណោះ ការពារ 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បោះ exception ធម្មតា ហើយ GlobalExceptionHandler តែមួយ បម្លែងវាទៅជា JSON។ ដូច្នេះ Service ស្អាត គ្មាន HTTP code ហើយ frontend ងាយស្រួល handle error។ Security មានពីរស្រទាប់៖ role ពិនិត្យដោយ Spring Security ហើយភាពជាម្ចាស់ ពិនិត្យដោយ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នីមួយៗ ក្នុង DESIGN.md មាន test មួយ ដូចជា៖ event មាន 3 កៅអី alice កក់ 4 → 409 ហើយកៅអីនៅតែ 3។ Test សំខាន់បំផុត គឺ concurrency test៖ server ពិតប្រាកដ event មាន 1 កៅអី threads 10 ផ្ញើ request ព្រមគ្នា។ លទ្ធផល៖ ម្នាក់ជោគជ័យ ៩ នាក់ទទួល 409 ហើយកៅអីនៅសល់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ខ្ញុំប្រើ Claude Code ជាជំនួយការ។ ដំណើរការគឺ spec មុន កូដក្រោយ។ ខ្ញុំផ្តល់ homework និងច្បាប់ទាំង ៦ ហើយ AI សរសេរ DESIGN.md ជាមុនសិន។ ខ្ញុំ review design នោះ មុនពេលសរសេរកូដណាមួយ។ បន្ទាប់មក AI សរសេរកូដ និង tests តាម design។ ចុងក្រោយ ខ្ញុំរត់ tests ខ្លួនឯង ហើយមើល diff មុន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សរសេរលឿន ប៉ុន្តែខ្ញុំទទួលខុសត្រូវ លើភាពត្រឹមត្រូវ។ Claude Code សរសេរ design, កូដ, tests និងឯកសារ។ ខ្ញុំផ្តល់ requirement, review design និង diff, រត់ tests ទាំង 20 ឲ្យជាប់ ហើយសម្រេចចិត្ត commit និង merge។ គ្រប់ commit ក្នុង git មាន Co-Authored-By: Claude ដូច្នេះការប្រើ AI មានតម្លាភាព។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សរុបមក ខ្ញុំរៀនបាន ៣ យ៉ាង។ ទីមួយ កុំជឿ client — តម្លៃ និងអត្តសញ្ញាណ ត្រូវមកពី server។ ទីពីរ ពិនិត្យ និងសរសេរ ត្រូវតែជាជំហានតែមួយ បើមិនដូច្នេះ អ្នកប្រើច្រើននាក់ អាចលក់លើសកៅអី។ ទីបី transaction ធ្វើឲ្យការផ្លាស់ប្តូរច្រើន ជោគជ័យទាំងអស់ ឬត្រឡប់វិញទាំងអស់។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ឥឡូវ ខ្ញុំនឹងបង្ហាញផ្ទាល់។ ទីមួយ alice ផ្ញើ price 0.01 — server មិនអើពើ ហើយគិត 50.00។ ទីពីរ កក់ event ដែលបានបោះបង់ → 409។ ទីបី quantity 5 → 400។ ទីបួន bob មើល booking របស់ alice → 403។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សូមអរគុណ ចំពោះការស្តាប់។ សំណួរដែលអាចមាន៖ ហេតុអ្វីមិនប្រើ synchronized? — ព្រោះវាដំណើរការតែក្នុង server មួយ ចំណែក database lock ដំណើរការ ទោះមាន server ច្រើន។ ហេតុអ្វីមិនប្រើ optimistic lock (@Version)? — វាក៏អាចប្រើបាន ប៉ុន្តែត្រូវ retry ពេល conflict ចំណែក conditional UPDATE សាមញ្ញជាង។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21234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4B"/>
                </a:solidFill>
                <a:latin typeface="Kantumruy Pro" pitchFamily="34" charset="0"/>
                <a:ea typeface="Kantumruy Pro" pitchFamily="34" charset="-122"/>
                <a:cs typeface="Kantumruy Pro" pitchFamily="34" charset="-120"/>
              </a:rPr>
              <a:t>HOMEWORK · EVENT TICKETS API</a:t>
            </a:r>
            <a:endParaRPr lang="en-US" sz="1200" dirty="0"/>
          </a:p>
        </p:txBody>
      </p:sp>
      <p:sp>
        <p:nvSpPr>
          <p:cNvPr id="3" name="Text 1"/>
          <p:cNvSpPr/>
          <p:nvPr/>
        </p:nvSpPr>
        <p:spPr>
          <a:xfrm>
            <a:off x="812800" y="254000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F5F3EC"/>
                </a:solidFill>
                <a:latin typeface="Kantumruy Pro" pitchFamily="34" charset="0"/>
                <a:ea typeface="Kantumruy Pro" pitchFamily="34" charset="-122"/>
                <a:cs typeface="Kantumruy Pro" pitchFamily="34" charset="-120"/>
              </a:rPr>
              <a:t>Event Tickets API</a:t>
            </a:r>
            <a:endParaRPr lang="en-US" sz="6000" dirty="0"/>
          </a:p>
        </p:txBody>
      </p:sp>
      <p:sp>
        <p:nvSpPr>
          <p:cNvPr id="4" name="Text 2"/>
          <p:cNvSpPr/>
          <p:nvPr/>
        </p:nvSpPr>
        <p:spPr>
          <a:xfrm>
            <a:off x="812800" y="3581400"/>
            <a:ext cx="10883392" cy="406400"/>
          </a:xfrm>
          <a:prstGeom prst="rect">
            <a:avLst/>
          </a:prstGeom>
          <a:noFill/>
          <a:ln/>
        </p:spPr>
        <p:txBody>
          <a:bodyPr wrap="square" lIns="0" tIns="0" rIns="0" bIns="0" rtlCol="0" anchor="t">
            <a:normAutofit/>
          </a:bodyPr>
          <a:lstStyle/>
          <a:p>
            <a:pPr algn="l" indent="0" marL="0">
              <a:lnSpc>
                <a:spcPts val="3000"/>
              </a:lnSpc>
              <a:buNone/>
            </a:pPr>
            <a:r>
              <a:rPr lang="en-US" sz="2000" dirty="0">
                <a:solidFill>
                  <a:srgbClr val="C9D3DC"/>
                </a:solidFill>
                <a:latin typeface="Kantumruy Pro" pitchFamily="34" charset="0"/>
                <a:ea typeface="Kantumruy Pro" pitchFamily="34" charset="-122"/>
                <a:cs typeface="Kantumruy Pro" pitchFamily="34" charset="-120"/>
              </a:rPr>
              <a:t>កិច្ចការផ្ទះ — ប្រព័ន្ធកក់សំបុត្រ ព្រឹត្តិការណ៍</a:t>
            </a:r>
            <a:endParaRPr lang="en-US" sz="2000" dirty="0"/>
          </a:p>
        </p:txBody>
      </p:sp>
      <p:sp>
        <p:nvSpPr>
          <p:cNvPr id="5" name="Shape 3"/>
          <p:cNvSpPr/>
          <p:nvPr/>
        </p:nvSpPr>
        <p:spPr>
          <a:xfrm>
            <a:off x="812800" y="4165600"/>
            <a:ext cx="1676400" cy="365720"/>
          </a:xfrm>
          <a:prstGeom prst="roundRect">
            <a:avLst>
              <a:gd name="adj" fmla="val 50000"/>
            </a:avLst>
          </a:prstGeom>
          <a:solidFill>
            <a:srgbClr val="1F3144"/>
          </a:solidFill>
          <a:ln/>
        </p:spPr>
      </p:sp>
      <p:sp>
        <p:nvSpPr>
          <p:cNvPr id="6" name="Text 4"/>
          <p:cNvSpPr/>
          <p:nvPr/>
        </p:nvSpPr>
        <p:spPr>
          <a:xfrm>
            <a:off x="965200" y="4241800"/>
            <a:ext cx="142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Spring Boot 3.5</a:t>
            </a:r>
            <a:endParaRPr lang="en-US" sz="1200" dirty="0"/>
          </a:p>
        </p:txBody>
      </p:sp>
      <p:sp>
        <p:nvSpPr>
          <p:cNvPr id="7" name="Shape 5"/>
          <p:cNvSpPr/>
          <p:nvPr/>
        </p:nvSpPr>
        <p:spPr>
          <a:xfrm>
            <a:off x="2590800" y="4165600"/>
            <a:ext cx="944910" cy="365720"/>
          </a:xfrm>
          <a:prstGeom prst="roundRect">
            <a:avLst>
              <a:gd name="adj" fmla="val 50000"/>
            </a:avLst>
          </a:prstGeom>
          <a:solidFill>
            <a:srgbClr val="1F3144"/>
          </a:solidFill>
          <a:ln/>
        </p:spPr>
      </p:sp>
      <p:sp>
        <p:nvSpPr>
          <p:cNvPr id="8" name="Text 6"/>
          <p:cNvSpPr/>
          <p:nvPr/>
        </p:nvSpPr>
        <p:spPr>
          <a:xfrm>
            <a:off x="2743200" y="4241800"/>
            <a:ext cx="6909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Java 21</a:t>
            </a:r>
            <a:endParaRPr lang="en-US" sz="1200" dirty="0"/>
          </a:p>
        </p:txBody>
      </p:sp>
      <p:sp>
        <p:nvSpPr>
          <p:cNvPr id="9" name="Shape 7"/>
          <p:cNvSpPr/>
          <p:nvPr/>
        </p:nvSpPr>
        <p:spPr>
          <a:xfrm>
            <a:off x="3637310" y="4165600"/>
            <a:ext cx="853480" cy="365720"/>
          </a:xfrm>
          <a:prstGeom prst="roundRect">
            <a:avLst>
              <a:gd name="adj" fmla="val 50000"/>
            </a:avLst>
          </a:prstGeom>
          <a:solidFill>
            <a:srgbClr val="1F3144"/>
          </a:solidFill>
          <a:ln/>
        </p:spPr>
      </p:sp>
      <p:sp>
        <p:nvSpPr>
          <p:cNvPr id="10" name="Text 8"/>
          <p:cNvSpPr/>
          <p:nvPr/>
        </p:nvSpPr>
        <p:spPr>
          <a:xfrm>
            <a:off x="3789710" y="4241800"/>
            <a:ext cx="599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Gradle</a:t>
            </a:r>
            <a:endParaRPr lang="en-US" sz="1200" dirty="0"/>
          </a:p>
        </p:txBody>
      </p:sp>
      <p:sp>
        <p:nvSpPr>
          <p:cNvPr id="11" name="Shape 9"/>
          <p:cNvSpPr/>
          <p:nvPr/>
        </p:nvSpPr>
        <p:spPr>
          <a:xfrm>
            <a:off x="4592389" y="4165600"/>
            <a:ext cx="1036340" cy="365720"/>
          </a:xfrm>
          <a:prstGeom prst="roundRect">
            <a:avLst>
              <a:gd name="adj" fmla="val 50000"/>
            </a:avLst>
          </a:prstGeom>
          <a:solidFill>
            <a:srgbClr val="1F3144"/>
          </a:solidFill>
          <a:ln/>
        </p:spPr>
      </p:sp>
      <p:sp>
        <p:nvSpPr>
          <p:cNvPr id="12" name="Text 10"/>
          <p:cNvSpPr/>
          <p:nvPr/>
        </p:nvSpPr>
        <p:spPr>
          <a:xfrm>
            <a:off x="4744789" y="4241800"/>
            <a:ext cx="782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H2 + JPA</a:t>
            </a:r>
            <a:endParaRPr lang="en-US" sz="12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Kantumruy Pro" pitchFamily="34" charset="0"/>
                <a:ea typeface="Kantumruy Pro" pitchFamily="34" charset="-122"/>
                <a:cs typeface="Kantumruy Pro" pitchFamily="34" charset="-120"/>
              </a:rPr>
              <a:t>Sothea · github.com/NemSothea/event-tickets-api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7A3C"/>
                </a:solidFill>
                <a:latin typeface="Kantumruy Pro" pitchFamily="34" charset="0"/>
                <a:ea typeface="Kantumruy Pro" pitchFamily="34" charset="-122"/>
                <a:cs typeface="Kantumruy Pro" pitchFamily="34" charset="-120"/>
              </a:rPr>
              <a:t>បញ្ហា</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13202E"/>
                </a:solidFill>
                <a:latin typeface="Kantumruy Pro" pitchFamily="34" charset="0"/>
                <a:ea typeface="Kantumruy Pro" pitchFamily="34" charset="-122"/>
                <a:cs typeface="Kantumruy Pro" pitchFamily="34" charset="-120"/>
              </a:rPr>
              <a:t>ច្បាប់អាជីវកម្ម ទាំង ៦</a:t>
            </a:r>
            <a:endParaRPr lang="en-US" sz="3200" dirty="0"/>
          </a:p>
        </p:txBody>
      </p:sp>
      <p:sp>
        <p:nvSpPr>
          <p:cNvPr id="4" name="Shape 2"/>
          <p:cNvSpPr/>
          <p:nvPr/>
        </p:nvSpPr>
        <p:spPr>
          <a:xfrm>
            <a:off x="815975" y="1938586"/>
            <a:ext cx="3380284" cy="1680170"/>
          </a:xfrm>
          <a:prstGeom prst="roundRect">
            <a:avLst>
              <a:gd name="adj" fmla="val 5858"/>
            </a:avLst>
          </a:prstGeom>
          <a:solidFill>
            <a:srgbClr val="FFFDF7"/>
          </a:solidFill>
          <a:ln w="6350">
            <a:solidFill>
              <a:srgbClr val="E2DED2"/>
            </a:solidFill>
            <a:prstDash val="solid"/>
          </a:ln>
        </p:spPr>
      </p:sp>
      <p:sp>
        <p:nvSpPr>
          <p:cNvPr id="5" name="Text 3"/>
          <p:cNvSpPr/>
          <p:nvPr/>
        </p:nvSpPr>
        <p:spPr>
          <a:xfrm>
            <a:off x="1022350" y="214496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01</a:t>
            </a:r>
            <a:endParaRPr lang="en-US" sz="1200" dirty="0"/>
          </a:p>
        </p:txBody>
      </p:sp>
      <p:sp>
        <p:nvSpPr>
          <p:cNvPr id="6" name="Text 4"/>
          <p:cNvSpPr/>
          <p:nvPr/>
        </p:nvSpPr>
        <p:spPr>
          <a:xfrm>
            <a:off x="1022350" y="2434481"/>
            <a:ext cx="305656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3202E"/>
                </a:solidFill>
                <a:latin typeface="Kantumruy Pro" pitchFamily="34" charset="0"/>
                <a:ea typeface="Kantumruy Pro" pitchFamily="34" charset="-122"/>
                <a:cs typeface="Kantumruy Pro" pitchFamily="34" charset="-120"/>
              </a:rPr>
              <a:t>មិនលក់ លើសកៅអី</a:t>
            </a:r>
            <a:endParaRPr lang="en-US" sz="2000" dirty="0"/>
          </a:p>
        </p:txBody>
      </p:sp>
      <p:sp>
        <p:nvSpPr>
          <p:cNvPr id="7" name="Text 5"/>
          <p:cNvSpPr/>
          <p:nvPr/>
        </p:nvSpPr>
        <p:spPr>
          <a:xfrm>
            <a:off x="1022350" y="2840881"/>
            <a:ext cx="305656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កក់លើស កៅអីដែលនៅសល់ → 409 Conflict</a:t>
            </a:r>
            <a:endParaRPr lang="en-US" sz="1500" dirty="0"/>
          </a:p>
        </p:txBody>
      </p:sp>
      <p:sp>
        <p:nvSpPr>
          <p:cNvPr id="8" name="Shape 6"/>
          <p:cNvSpPr/>
          <p:nvPr/>
        </p:nvSpPr>
        <p:spPr>
          <a:xfrm>
            <a:off x="4405809" y="1938586"/>
            <a:ext cx="3380333" cy="1680170"/>
          </a:xfrm>
          <a:prstGeom prst="roundRect">
            <a:avLst>
              <a:gd name="adj" fmla="val 5858"/>
            </a:avLst>
          </a:prstGeom>
          <a:solidFill>
            <a:srgbClr val="FFFDF7"/>
          </a:solidFill>
          <a:ln w="6350">
            <a:solidFill>
              <a:srgbClr val="E2DED2"/>
            </a:solidFill>
            <a:prstDash val="solid"/>
          </a:ln>
        </p:spPr>
      </p:sp>
      <p:sp>
        <p:nvSpPr>
          <p:cNvPr id="9" name="Text 7"/>
          <p:cNvSpPr/>
          <p:nvPr/>
        </p:nvSpPr>
        <p:spPr>
          <a:xfrm>
            <a:off x="4612184" y="2144961"/>
            <a:ext cx="30566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02</a:t>
            </a:r>
            <a:endParaRPr lang="en-US" sz="1200" dirty="0"/>
          </a:p>
        </p:txBody>
      </p:sp>
      <p:sp>
        <p:nvSpPr>
          <p:cNvPr id="10" name="Text 8"/>
          <p:cNvSpPr/>
          <p:nvPr/>
        </p:nvSpPr>
        <p:spPr>
          <a:xfrm>
            <a:off x="4612184" y="2434481"/>
            <a:ext cx="3056611"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3202E"/>
                </a:solidFill>
                <a:latin typeface="Kantumruy Pro" pitchFamily="34" charset="0"/>
                <a:ea typeface="Kantumruy Pro" pitchFamily="34" charset="-122"/>
                <a:cs typeface="Kantumruy Pro" pitchFamily="34" charset="-120"/>
              </a:rPr>
              <a:t>កៅអី ត្រឹមត្រូវជានិច្ច</a:t>
            </a:r>
            <a:endParaRPr lang="en-US" sz="2000" dirty="0"/>
          </a:p>
        </p:txBody>
      </p:sp>
      <p:sp>
        <p:nvSpPr>
          <p:cNvPr id="11" name="Text 9"/>
          <p:cNvSpPr/>
          <p:nvPr/>
        </p:nvSpPr>
        <p:spPr>
          <a:xfrm>
            <a:off x="4612184" y="2840881"/>
            <a:ext cx="3056611"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កក់ → កាត់កៅអី។ បោះបង់ → ប្រគល់កៅអី វិញ</a:t>
            </a:r>
            <a:endParaRPr lang="en-US" sz="1500" dirty="0"/>
          </a:p>
        </p:txBody>
      </p:sp>
      <p:sp>
        <p:nvSpPr>
          <p:cNvPr id="12" name="Shape 10"/>
          <p:cNvSpPr/>
          <p:nvPr/>
        </p:nvSpPr>
        <p:spPr>
          <a:xfrm>
            <a:off x="7995692" y="1938586"/>
            <a:ext cx="3380284" cy="1680170"/>
          </a:xfrm>
          <a:prstGeom prst="roundRect">
            <a:avLst>
              <a:gd name="adj" fmla="val 5858"/>
            </a:avLst>
          </a:prstGeom>
          <a:solidFill>
            <a:srgbClr val="FFFDF7"/>
          </a:solidFill>
          <a:ln w="6350">
            <a:solidFill>
              <a:srgbClr val="E2DED2"/>
            </a:solidFill>
            <a:prstDash val="solid"/>
          </a:ln>
        </p:spPr>
      </p:sp>
      <p:sp>
        <p:nvSpPr>
          <p:cNvPr id="13" name="Text 11"/>
          <p:cNvSpPr/>
          <p:nvPr/>
        </p:nvSpPr>
        <p:spPr>
          <a:xfrm>
            <a:off x="8202067" y="214496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03</a:t>
            </a:r>
            <a:endParaRPr lang="en-US" sz="1200" dirty="0"/>
          </a:p>
        </p:txBody>
      </p:sp>
      <p:sp>
        <p:nvSpPr>
          <p:cNvPr id="14" name="Text 12"/>
          <p:cNvSpPr/>
          <p:nvPr/>
        </p:nvSpPr>
        <p:spPr>
          <a:xfrm>
            <a:off x="8202067" y="2434481"/>
            <a:ext cx="305656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3202E"/>
                </a:solidFill>
                <a:latin typeface="Kantumruy Pro" pitchFamily="34" charset="0"/>
                <a:ea typeface="Kantumruy Pro" pitchFamily="34" charset="-122"/>
                <a:cs typeface="Kantumruy Pro" pitchFamily="34" charset="-120"/>
              </a:rPr>
              <a:t>អតិបរមា ៤ សំបុត្រ</a:t>
            </a:r>
            <a:endParaRPr lang="en-US" sz="2000" dirty="0"/>
          </a:p>
        </p:txBody>
      </p:sp>
      <p:sp>
        <p:nvSpPr>
          <p:cNvPr id="15" name="Text 13"/>
          <p:cNvSpPr/>
          <p:nvPr/>
        </p:nvSpPr>
        <p:spPr>
          <a:xfrm>
            <a:off x="8202067" y="2840881"/>
            <a:ext cx="305656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quantity ពី 1 ដល់ 4 បើមិនដូច្នេះ → 400 Bad Request</a:t>
            </a:r>
            <a:endParaRPr lang="en-US" sz="1500" dirty="0"/>
          </a:p>
        </p:txBody>
      </p:sp>
      <p:sp>
        <p:nvSpPr>
          <p:cNvPr id="16" name="Shape 14"/>
          <p:cNvSpPr/>
          <p:nvPr/>
        </p:nvSpPr>
        <p:spPr>
          <a:xfrm>
            <a:off x="815975" y="3828306"/>
            <a:ext cx="3380284" cy="2010370"/>
          </a:xfrm>
          <a:prstGeom prst="roundRect">
            <a:avLst>
              <a:gd name="adj" fmla="val 4896"/>
            </a:avLst>
          </a:prstGeom>
          <a:solidFill>
            <a:srgbClr val="FFFDF7"/>
          </a:solidFill>
          <a:ln w="6350">
            <a:solidFill>
              <a:srgbClr val="E2DED2"/>
            </a:solidFill>
            <a:prstDash val="solid"/>
          </a:ln>
        </p:spPr>
      </p:sp>
      <p:sp>
        <p:nvSpPr>
          <p:cNvPr id="17" name="Text 15"/>
          <p:cNvSpPr/>
          <p:nvPr/>
        </p:nvSpPr>
        <p:spPr>
          <a:xfrm>
            <a:off x="1022350" y="403468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04</a:t>
            </a:r>
            <a:endParaRPr lang="en-US" sz="1200" dirty="0"/>
          </a:p>
        </p:txBody>
      </p:sp>
      <p:sp>
        <p:nvSpPr>
          <p:cNvPr id="18" name="Text 16"/>
          <p:cNvSpPr/>
          <p:nvPr/>
        </p:nvSpPr>
        <p:spPr>
          <a:xfrm>
            <a:off x="1022350" y="4324201"/>
            <a:ext cx="305656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3202E"/>
                </a:solidFill>
                <a:latin typeface="Kantumruy Pro" pitchFamily="34" charset="0"/>
                <a:ea typeface="Kantumruy Pro" pitchFamily="34" charset="-122"/>
                <a:cs typeface="Kantumruy Pro" pitchFamily="34" charset="-120"/>
              </a:rPr>
              <a:t>តម្លៃ មកពី server</a:t>
            </a:r>
            <a:endParaRPr lang="en-US" sz="2000" dirty="0"/>
          </a:p>
        </p:txBody>
      </p:sp>
      <p:sp>
        <p:nvSpPr>
          <p:cNvPr id="19" name="Text 17"/>
          <p:cNvSpPr/>
          <p:nvPr/>
        </p:nvSpPr>
        <p:spPr>
          <a:xfrm>
            <a:off x="1022350" y="4730601"/>
            <a:ext cx="305656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សរុប = តម្លៃ × ចំនួន។ មិនជឿ តម្លៃពី client</a:t>
            </a:r>
            <a:endParaRPr lang="en-US" sz="1500" dirty="0"/>
          </a:p>
        </p:txBody>
      </p:sp>
      <p:sp>
        <p:nvSpPr>
          <p:cNvPr id="20" name="Shape 18"/>
          <p:cNvSpPr/>
          <p:nvPr/>
        </p:nvSpPr>
        <p:spPr>
          <a:xfrm>
            <a:off x="4405809" y="3828306"/>
            <a:ext cx="3380333" cy="2010370"/>
          </a:xfrm>
          <a:prstGeom prst="roundRect">
            <a:avLst>
              <a:gd name="adj" fmla="val 4896"/>
            </a:avLst>
          </a:prstGeom>
          <a:solidFill>
            <a:srgbClr val="FFFDF7"/>
          </a:solidFill>
          <a:ln w="6350">
            <a:solidFill>
              <a:srgbClr val="E2DED2"/>
            </a:solidFill>
            <a:prstDash val="solid"/>
          </a:ln>
        </p:spPr>
      </p:sp>
      <p:sp>
        <p:nvSpPr>
          <p:cNvPr id="21" name="Text 19"/>
          <p:cNvSpPr/>
          <p:nvPr/>
        </p:nvSpPr>
        <p:spPr>
          <a:xfrm>
            <a:off x="4612184" y="4034681"/>
            <a:ext cx="30566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05</a:t>
            </a:r>
            <a:endParaRPr lang="en-US" sz="1200" dirty="0"/>
          </a:p>
        </p:txBody>
      </p:sp>
      <p:sp>
        <p:nvSpPr>
          <p:cNvPr id="22" name="Text 20"/>
          <p:cNvSpPr/>
          <p:nvPr/>
        </p:nvSpPr>
        <p:spPr>
          <a:xfrm>
            <a:off x="4612184" y="4324201"/>
            <a:ext cx="3056611"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3202E"/>
                </a:solidFill>
                <a:latin typeface="Kantumruy Pro" pitchFamily="34" charset="0"/>
                <a:ea typeface="Kantumruy Pro" pitchFamily="34" charset="-122"/>
                <a:cs typeface="Kantumruy Pro" pitchFamily="34" charset="-120"/>
              </a:rPr>
              <a:t>មិនកក់ event ដែលបានបោះបង់</a:t>
            </a:r>
            <a:endParaRPr lang="en-US" sz="2000" dirty="0"/>
          </a:p>
        </p:txBody>
      </p:sp>
      <p:sp>
        <p:nvSpPr>
          <p:cNvPr id="23" name="Text 21"/>
          <p:cNvSpPr/>
          <p:nvPr/>
        </p:nvSpPr>
        <p:spPr>
          <a:xfrm>
            <a:off x="4612184" y="5060801"/>
            <a:ext cx="3056611"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status CANCELLED → 409 Conflict</a:t>
            </a:r>
            <a:endParaRPr lang="en-US" sz="1500" dirty="0"/>
          </a:p>
        </p:txBody>
      </p:sp>
      <p:sp>
        <p:nvSpPr>
          <p:cNvPr id="24" name="Shape 22"/>
          <p:cNvSpPr/>
          <p:nvPr/>
        </p:nvSpPr>
        <p:spPr>
          <a:xfrm>
            <a:off x="7995692" y="3828306"/>
            <a:ext cx="3380284" cy="2010370"/>
          </a:xfrm>
          <a:prstGeom prst="roundRect">
            <a:avLst>
              <a:gd name="adj" fmla="val 4896"/>
            </a:avLst>
          </a:prstGeom>
          <a:solidFill>
            <a:srgbClr val="FFFDF7"/>
          </a:solidFill>
          <a:ln w="6350">
            <a:solidFill>
              <a:srgbClr val="E2DED2"/>
            </a:solidFill>
            <a:prstDash val="solid"/>
          </a:ln>
        </p:spPr>
      </p:sp>
      <p:sp>
        <p:nvSpPr>
          <p:cNvPr id="25" name="Text 23"/>
          <p:cNvSpPr/>
          <p:nvPr/>
        </p:nvSpPr>
        <p:spPr>
          <a:xfrm>
            <a:off x="8202067" y="403468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06</a:t>
            </a:r>
            <a:endParaRPr lang="en-US" sz="1200" dirty="0"/>
          </a:p>
        </p:txBody>
      </p:sp>
      <p:sp>
        <p:nvSpPr>
          <p:cNvPr id="26" name="Text 24"/>
          <p:cNvSpPr/>
          <p:nvPr/>
        </p:nvSpPr>
        <p:spPr>
          <a:xfrm>
            <a:off x="8202067" y="4324201"/>
            <a:ext cx="305656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3202E"/>
                </a:solidFill>
                <a:latin typeface="Kantumruy Pro" pitchFamily="34" charset="0"/>
                <a:ea typeface="Kantumruy Pro" pitchFamily="34" charset="-122"/>
                <a:cs typeface="Kantumruy Pro" pitchFamily="34" charset="-120"/>
              </a:rPr>
              <a:t>តែការកក់ របស់ខ្លួន</a:t>
            </a:r>
            <a:endParaRPr lang="en-US" sz="2000" dirty="0"/>
          </a:p>
        </p:txBody>
      </p:sp>
      <p:sp>
        <p:nvSpPr>
          <p:cNvPr id="27" name="Text 25"/>
          <p:cNvSpPr/>
          <p:nvPr/>
        </p:nvSpPr>
        <p:spPr>
          <a:xfrm>
            <a:off x="8202067" y="4730601"/>
            <a:ext cx="305656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មើល ឬបោះបង់ តែរបស់ខ្លួន បើមិនដូច្នេះ → 403</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7A3C"/>
                </a:solidFill>
                <a:latin typeface="Kantumruy Pro" pitchFamily="34" charset="0"/>
                <a:ea typeface="Kantumruy Pro" pitchFamily="34" charset="-122"/>
                <a:cs typeface="Kantumruy Pro" pitchFamily="34" charset="-120"/>
              </a:rPr>
              <a:t>បញ្ហា</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13202E"/>
                </a:solidFill>
                <a:latin typeface="Kantumruy Pro" pitchFamily="34" charset="0"/>
                <a:ea typeface="Kantumruy Pro" pitchFamily="34" charset="-122"/>
                <a:cs typeface="Kantumruy Pro" pitchFamily="34" charset="-120"/>
              </a:rPr>
              <a:t>បច្ចេកវិទ្យា ដែលបានប្រើ</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3302000"/>
        </p:xfrm>
        <a:graphic>
          <a:graphicData uri="http://schemas.openxmlformats.org/drawingml/2006/table">
            <a:tbl>
              <a:tblPr/>
              <a:tblGrid>
                <a:gridCol w="3693795"/>
                <a:gridCol w="6859905"/>
              </a:tblGrid>
              <a:tr h="412750">
                <a:tc>
                  <a:txBody>
                    <a:bodyPr/>
                    <a:lstStyle/>
                    <a:p>
                      <a:pPr indent="0" marL="0">
                        <a:lnSpc>
                          <a:spcPts val="2100"/>
                        </a:lnSpc>
                        <a:buNone/>
                      </a:pPr>
                      <a:r>
                        <a:rPr lang="en-US" sz="1500" b="1" dirty="0">
                          <a:solidFill>
                            <a:srgbClr val="13202E"/>
                          </a:solidFill>
                          <a:latin typeface="Kantumruy Pro" pitchFamily="34" charset="0"/>
                          <a:ea typeface="Kantumruy Pro" pitchFamily="34" charset="-122"/>
                          <a:cs typeface="Kantumruy Pro" pitchFamily="34" charset="-120"/>
                        </a:rPr>
                        <a:t>បច្ចេកវិទ្យា</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AB7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AB7AD"/>
                      </a:solidFill>
                      <a:prstDash val="solid"/>
                      <a:round/>
                      <a:headEnd type="none" w="med" len="med"/>
                      <a:tailEnd type="none" w="med" len="med"/>
                    </a:lnB>
                    <a:solidFill>
                      <a:srgbClr val="E9E5D9"/>
                    </a:solidFill>
                  </a:tcPr>
                </a:tc>
                <a:tc>
                  <a:txBody>
                    <a:bodyPr/>
                    <a:lstStyle/>
                    <a:p>
                      <a:pPr indent="0" marL="0">
                        <a:lnSpc>
                          <a:spcPts val="2100"/>
                        </a:lnSpc>
                        <a:buNone/>
                      </a:pPr>
                      <a:r>
                        <a:rPr lang="en-US" sz="1500" b="1" dirty="0">
                          <a:solidFill>
                            <a:srgbClr val="13202E"/>
                          </a:solidFill>
                          <a:latin typeface="Kantumruy Pro" pitchFamily="34" charset="0"/>
                          <a:ea typeface="Kantumruy Pro" pitchFamily="34" charset="-122"/>
                          <a:cs typeface="Kantumruy Pro" pitchFamily="34" charset="-120"/>
                        </a:rPr>
                        <a:t>តួនាទី</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BAB7AD"/>
                      </a:solidFill>
                      <a:prstDash val="solid"/>
                      <a:round/>
                      <a:headEnd type="none" w="med" len="med"/>
                      <a:tailEnd type="none" w="med" len="med"/>
                    </a:lnL>
                    <a:lnR w="12700" cap="flat" cmpd="sng" algn="ctr">
                      <a:solidFill>
                        <a:srgbClr val="BAB7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AB7AD"/>
                      </a:solidFill>
                      <a:prstDash val="solid"/>
                      <a:round/>
                      <a:headEnd type="none" w="med" len="med"/>
                      <a:tailEnd type="none" w="med" len="med"/>
                    </a:lnB>
                    <a:solidFill>
                      <a:srgbClr val="E9E5D9"/>
                    </a:solidFill>
                  </a:tcPr>
                </a:tc>
              </a:tr>
              <a:tr h="412750">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Spring Boot 3.5</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AB7AD"/>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Web framework សម្រាប់ REST API</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AB7AD"/>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Java 21</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ភាសា — record, text block</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412750">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Gradle 8.14</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Build tool (Kotlin DSL) + wrapper</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Spring Data JPA + H2</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មូលដ្ឋានទិន្នន័យ in-memory</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412750">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Spring Security</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HTTP Basic login និង role</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Bean Validation</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ផ្ទៀងផ្ទាត់ input (quantity 1–4)</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412750">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JUnit 5 + MockMvc</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Tests — 19 scenarios + concurrency</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7A3C"/>
                </a:solidFill>
                <a:latin typeface="Kantumruy Pro" pitchFamily="34" charset="0"/>
                <a:ea typeface="Kantumruy Pro" pitchFamily="34" charset="-122"/>
                <a:cs typeface="Kantumruy Pro" pitchFamily="34" charset="-120"/>
              </a:rPr>
              <a:t>ការរចនា</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13202E"/>
                </a:solidFill>
                <a:latin typeface="Kantumruy Pro" pitchFamily="34" charset="0"/>
                <a:ea typeface="Kantumruy Pro" pitchFamily="34" charset="-122"/>
                <a:cs typeface="Kantumruy Pro" pitchFamily="34" charset="-120"/>
              </a:rPr>
              <a:t>រចនាសម្ព័ន្ធ ជាស្រទាប់</a:t>
            </a:r>
            <a:endParaRPr lang="en-US" sz="3200" dirty="0"/>
          </a:p>
        </p:txBody>
      </p:sp>
      <p:sp>
        <p:nvSpPr>
          <p:cNvPr id="4" name="Shape 2"/>
          <p:cNvSpPr/>
          <p:nvPr/>
        </p:nvSpPr>
        <p:spPr>
          <a:xfrm>
            <a:off x="815975" y="2040186"/>
            <a:ext cx="1741140" cy="1381720"/>
          </a:xfrm>
          <a:prstGeom prst="roundRect">
            <a:avLst>
              <a:gd name="adj" fmla="val 7123"/>
            </a:avLst>
          </a:prstGeom>
          <a:solidFill>
            <a:srgbClr val="FFFDF7"/>
          </a:solidFill>
          <a:ln w="6350">
            <a:solidFill>
              <a:srgbClr val="E2DED2"/>
            </a:solidFill>
            <a:prstDash val="solid"/>
          </a:ln>
        </p:spPr>
      </p:sp>
      <p:sp>
        <p:nvSpPr>
          <p:cNvPr id="5" name="Text 3"/>
          <p:cNvSpPr/>
          <p:nvPr/>
        </p:nvSpPr>
        <p:spPr>
          <a:xfrm>
            <a:off x="971550" y="2195761"/>
            <a:ext cx="148079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02E"/>
                </a:solidFill>
                <a:latin typeface="Kantumruy Pro" pitchFamily="34" charset="0"/>
                <a:ea typeface="Kantumruy Pro" pitchFamily="34" charset="-122"/>
                <a:cs typeface="Kantumruy Pro" pitchFamily="34" charset="-120"/>
              </a:rPr>
              <a:t>Security</a:t>
            </a:r>
            <a:endParaRPr lang="en-US" sz="1500" dirty="0"/>
          </a:p>
        </p:txBody>
      </p:sp>
      <p:sp>
        <p:nvSpPr>
          <p:cNvPr id="6" name="Text 4"/>
          <p:cNvSpPr/>
          <p:nvPr/>
        </p:nvSpPr>
        <p:spPr>
          <a:xfrm>
            <a:off x="971550" y="2519611"/>
            <a:ext cx="148079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361"/>
                </a:solidFill>
                <a:latin typeface="Kantumruy Pro" pitchFamily="34" charset="0"/>
                <a:ea typeface="Kantumruy Pro" pitchFamily="34" charset="-122"/>
                <a:cs typeface="Kantumruy Pro" pitchFamily="34" charset="-120"/>
              </a:rPr>
              <a:t>អ្នកជានរណា? មានសិទ្ធិទេ?</a:t>
            </a:r>
            <a:endParaRPr lang="en-US" sz="1200" dirty="0"/>
          </a:p>
        </p:txBody>
      </p:sp>
      <p:sp>
        <p:nvSpPr>
          <p:cNvPr id="7" name="Text 5"/>
          <p:cNvSpPr/>
          <p:nvPr/>
        </p:nvSpPr>
        <p:spPr>
          <a:xfrm>
            <a:off x="971550" y="3053011"/>
            <a:ext cx="14807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401 · 403</a:t>
            </a:r>
            <a:endParaRPr lang="en-US" sz="1200" dirty="0"/>
          </a:p>
        </p:txBody>
      </p:sp>
      <p:pic>
        <p:nvPicPr>
          <p:cNvPr id="8" name="Image 0" descr="connector">    </p:cNvPr>
          <p:cNvPicPr>
            <a:picLocks noChangeAspect="1"/>
          </p:cNvPicPr>
          <p:nvPr/>
        </p:nvPicPr>
        <p:blipFill>
          <a:blip r:embed="rId1"/>
          <a:srcRect l="0" r="0" t="0" b="0"/>
          <a:stretch/>
        </p:blipFill>
        <p:spPr>
          <a:xfrm>
            <a:off x="2661890" y="2692946"/>
            <a:ext cx="254000" cy="76200"/>
          </a:xfrm>
          <a:prstGeom prst="rect">
            <a:avLst/>
          </a:prstGeom>
        </p:spPr>
      </p:pic>
      <p:sp>
        <p:nvSpPr>
          <p:cNvPr id="9" name="Shape 6"/>
          <p:cNvSpPr/>
          <p:nvPr/>
        </p:nvSpPr>
        <p:spPr>
          <a:xfrm>
            <a:off x="3020665" y="2040186"/>
            <a:ext cx="1741190" cy="1381720"/>
          </a:xfrm>
          <a:prstGeom prst="roundRect">
            <a:avLst>
              <a:gd name="adj" fmla="val 7123"/>
            </a:avLst>
          </a:prstGeom>
          <a:solidFill>
            <a:srgbClr val="FFFDF7"/>
          </a:solidFill>
          <a:ln w="6350">
            <a:solidFill>
              <a:srgbClr val="E2DED2"/>
            </a:solidFill>
            <a:prstDash val="solid"/>
          </a:ln>
        </p:spPr>
      </p:sp>
      <p:sp>
        <p:nvSpPr>
          <p:cNvPr id="10" name="Text 7"/>
          <p:cNvSpPr/>
          <p:nvPr/>
        </p:nvSpPr>
        <p:spPr>
          <a:xfrm>
            <a:off x="3176240" y="2195761"/>
            <a:ext cx="148084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02E"/>
                </a:solidFill>
                <a:latin typeface="Kantumruy Pro" pitchFamily="34" charset="0"/>
                <a:ea typeface="Kantumruy Pro" pitchFamily="34" charset="-122"/>
                <a:cs typeface="Kantumruy Pro" pitchFamily="34" charset="-120"/>
              </a:rPr>
              <a:t>Controller</a:t>
            </a:r>
            <a:endParaRPr lang="en-US" sz="1500" dirty="0"/>
          </a:p>
        </p:txBody>
      </p:sp>
      <p:sp>
        <p:nvSpPr>
          <p:cNvPr id="11" name="Text 8"/>
          <p:cNvSpPr/>
          <p:nvPr/>
        </p:nvSpPr>
        <p:spPr>
          <a:xfrm>
            <a:off x="3176240" y="2519611"/>
            <a:ext cx="148084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361"/>
                </a:solidFill>
                <a:latin typeface="Kantumruy Pro" pitchFamily="34" charset="0"/>
                <a:ea typeface="Kantumruy Pro" pitchFamily="34" charset="-122"/>
                <a:cs typeface="Kantumruy Pro" pitchFamily="34" charset="-120"/>
              </a:rPr>
              <a:t>អាន JSON ផ្ទៀងផ្ទាត់ input</a:t>
            </a:r>
            <a:endParaRPr lang="en-US" sz="1200" dirty="0"/>
          </a:p>
        </p:txBody>
      </p:sp>
      <p:sp>
        <p:nvSpPr>
          <p:cNvPr id="12" name="Text 9"/>
          <p:cNvSpPr/>
          <p:nvPr/>
        </p:nvSpPr>
        <p:spPr>
          <a:xfrm>
            <a:off x="3176240" y="3053011"/>
            <a:ext cx="14808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400</a:t>
            </a:r>
            <a:endParaRPr lang="en-US" sz="1200" dirty="0"/>
          </a:p>
        </p:txBody>
      </p:sp>
      <p:pic>
        <p:nvPicPr>
          <p:cNvPr id="13" name="Image 1" descr="connector">    </p:cNvPr>
          <p:cNvPicPr>
            <a:picLocks noChangeAspect="1"/>
          </p:cNvPicPr>
          <p:nvPr/>
        </p:nvPicPr>
        <p:blipFill>
          <a:blip r:embed="rId2"/>
          <a:srcRect l="0" r="0" t="0" b="0"/>
          <a:stretch/>
        </p:blipFill>
        <p:spPr>
          <a:xfrm>
            <a:off x="4866630" y="2692946"/>
            <a:ext cx="254000" cy="76200"/>
          </a:xfrm>
          <a:prstGeom prst="rect">
            <a:avLst/>
          </a:prstGeom>
        </p:spPr>
      </p:pic>
      <p:sp>
        <p:nvSpPr>
          <p:cNvPr id="14" name="Shape 10"/>
          <p:cNvSpPr/>
          <p:nvPr/>
        </p:nvSpPr>
        <p:spPr>
          <a:xfrm>
            <a:off x="5225405" y="2154486"/>
            <a:ext cx="1741140" cy="1153120"/>
          </a:xfrm>
          <a:prstGeom prst="roundRect">
            <a:avLst>
              <a:gd name="adj" fmla="val 8536"/>
            </a:avLst>
          </a:prstGeom>
          <a:solidFill>
            <a:srgbClr val="13202E"/>
          </a:solidFill>
          <a:ln w="6350">
            <a:solidFill>
              <a:srgbClr val="13202E"/>
            </a:solidFill>
            <a:prstDash val="solid"/>
          </a:ln>
        </p:spPr>
      </p:sp>
      <p:sp>
        <p:nvSpPr>
          <p:cNvPr id="15" name="Text 11"/>
          <p:cNvSpPr/>
          <p:nvPr/>
        </p:nvSpPr>
        <p:spPr>
          <a:xfrm>
            <a:off x="5380980" y="2310061"/>
            <a:ext cx="148079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5F3EC"/>
                </a:solidFill>
                <a:latin typeface="Kantumruy Pro" pitchFamily="34" charset="0"/>
                <a:ea typeface="Kantumruy Pro" pitchFamily="34" charset="-122"/>
                <a:cs typeface="Kantumruy Pro" pitchFamily="34" charset="-120"/>
              </a:rPr>
              <a:t>Service</a:t>
            </a:r>
            <a:endParaRPr lang="en-US" sz="1500" dirty="0"/>
          </a:p>
        </p:txBody>
      </p:sp>
      <p:sp>
        <p:nvSpPr>
          <p:cNvPr id="16" name="Text 12"/>
          <p:cNvSpPr/>
          <p:nvPr/>
        </p:nvSpPr>
        <p:spPr>
          <a:xfrm>
            <a:off x="5380980" y="2633911"/>
            <a:ext cx="148079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D3DC"/>
                </a:solidFill>
                <a:latin typeface="Kantumruy Pro" pitchFamily="34" charset="0"/>
                <a:ea typeface="Kantumruy Pro" pitchFamily="34" charset="-122"/>
                <a:cs typeface="Kantumruy Pro" pitchFamily="34" charset="-120"/>
              </a:rPr>
              <a:t>ច្បាប់ អាជីវកម្ម ទាំងអស់</a:t>
            </a:r>
            <a:endParaRPr lang="en-US" sz="1200" dirty="0"/>
          </a:p>
        </p:txBody>
      </p:sp>
      <p:sp>
        <p:nvSpPr>
          <p:cNvPr id="17" name="Text 13"/>
          <p:cNvSpPr/>
          <p:nvPr/>
        </p:nvSpPr>
        <p:spPr>
          <a:xfrm>
            <a:off x="5380980" y="2938711"/>
            <a:ext cx="14807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04B"/>
                </a:solidFill>
                <a:latin typeface="JetBrains Mono" pitchFamily="34" charset="0"/>
                <a:ea typeface="JetBrains Mono" pitchFamily="34" charset="-122"/>
                <a:cs typeface="JetBrains Mono" pitchFamily="34" charset="-120"/>
              </a:rPr>
              <a:t>404·403·409</a:t>
            </a:r>
            <a:endParaRPr lang="en-US" sz="1200" dirty="0"/>
          </a:p>
        </p:txBody>
      </p:sp>
      <p:pic>
        <p:nvPicPr>
          <p:cNvPr id="18" name="Image 2" descr="connector">    </p:cNvPr>
          <p:cNvPicPr>
            <a:picLocks noChangeAspect="1"/>
          </p:cNvPicPr>
          <p:nvPr/>
        </p:nvPicPr>
        <p:blipFill>
          <a:blip r:embed="rId3"/>
          <a:srcRect l="0" r="0" t="0" b="0"/>
          <a:stretch/>
        </p:blipFill>
        <p:spPr>
          <a:xfrm>
            <a:off x="7071320" y="2692946"/>
            <a:ext cx="254000" cy="76200"/>
          </a:xfrm>
          <a:prstGeom prst="rect">
            <a:avLst/>
          </a:prstGeom>
        </p:spPr>
      </p:pic>
      <p:sp>
        <p:nvSpPr>
          <p:cNvPr id="19" name="Shape 14"/>
          <p:cNvSpPr/>
          <p:nvPr/>
        </p:nvSpPr>
        <p:spPr>
          <a:xfrm>
            <a:off x="7430095" y="2154486"/>
            <a:ext cx="1741190" cy="1153120"/>
          </a:xfrm>
          <a:prstGeom prst="roundRect">
            <a:avLst>
              <a:gd name="adj" fmla="val 8536"/>
            </a:avLst>
          </a:prstGeom>
          <a:solidFill>
            <a:srgbClr val="FFFDF7"/>
          </a:solidFill>
          <a:ln w="6350">
            <a:solidFill>
              <a:srgbClr val="E2DED2"/>
            </a:solidFill>
            <a:prstDash val="solid"/>
          </a:ln>
        </p:spPr>
      </p:sp>
      <p:sp>
        <p:nvSpPr>
          <p:cNvPr id="20" name="Text 15"/>
          <p:cNvSpPr/>
          <p:nvPr/>
        </p:nvSpPr>
        <p:spPr>
          <a:xfrm>
            <a:off x="7585670" y="2310061"/>
            <a:ext cx="148084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02E"/>
                </a:solidFill>
                <a:latin typeface="Kantumruy Pro" pitchFamily="34" charset="0"/>
                <a:ea typeface="Kantumruy Pro" pitchFamily="34" charset="-122"/>
                <a:cs typeface="Kantumruy Pro" pitchFamily="34" charset="-120"/>
              </a:rPr>
              <a:t>Repository</a:t>
            </a:r>
            <a:endParaRPr lang="en-US" sz="1500" dirty="0"/>
          </a:p>
        </p:txBody>
      </p:sp>
      <p:sp>
        <p:nvSpPr>
          <p:cNvPr id="21" name="Text 16"/>
          <p:cNvSpPr/>
          <p:nvPr/>
        </p:nvSpPr>
        <p:spPr>
          <a:xfrm>
            <a:off x="7585670" y="2633911"/>
            <a:ext cx="148084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361"/>
                </a:solidFill>
                <a:latin typeface="Kantumruy Pro" pitchFamily="34" charset="0"/>
                <a:ea typeface="Kantumruy Pro" pitchFamily="34" charset="-122"/>
                <a:cs typeface="Kantumruy Pro" pitchFamily="34" charset="-120"/>
              </a:rPr>
              <a:t>SQL ទៅ database</a:t>
            </a:r>
            <a:endParaRPr lang="en-US" sz="1200" dirty="0"/>
          </a:p>
        </p:txBody>
      </p:sp>
      <p:sp>
        <p:nvSpPr>
          <p:cNvPr id="22" name="Text 17"/>
          <p:cNvSpPr/>
          <p:nvPr/>
        </p:nvSpPr>
        <p:spPr>
          <a:xfrm>
            <a:off x="7585670" y="2938711"/>
            <a:ext cx="14808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JPA</a:t>
            </a:r>
            <a:endParaRPr lang="en-US" sz="1200" dirty="0"/>
          </a:p>
        </p:txBody>
      </p:sp>
      <p:pic>
        <p:nvPicPr>
          <p:cNvPr id="23" name="Image 3" descr="connector">    </p:cNvPr>
          <p:cNvPicPr>
            <a:picLocks noChangeAspect="1"/>
          </p:cNvPicPr>
          <p:nvPr/>
        </p:nvPicPr>
        <p:blipFill>
          <a:blip r:embed="rId4"/>
          <a:srcRect l="0" r="0" t="0" b="0"/>
          <a:stretch/>
        </p:blipFill>
        <p:spPr>
          <a:xfrm>
            <a:off x="9276060" y="2692946"/>
            <a:ext cx="254000" cy="76200"/>
          </a:xfrm>
          <a:prstGeom prst="rect">
            <a:avLst/>
          </a:prstGeom>
        </p:spPr>
      </p:pic>
      <p:sp>
        <p:nvSpPr>
          <p:cNvPr id="24" name="Shape 18"/>
          <p:cNvSpPr/>
          <p:nvPr/>
        </p:nvSpPr>
        <p:spPr>
          <a:xfrm>
            <a:off x="9634835" y="2154486"/>
            <a:ext cx="1741190" cy="1153120"/>
          </a:xfrm>
          <a:prstGeom prst="roundRect">
            <a:avLst>
              <a:gd name="adj" fmla="val 8536"/>
            </a:avLst>
          </a:prstGeom>
          <a:solidFill>
            <a:srgbClr val="FFFDF7"/>
          </a:solidFill>
          <a:ln w="6350">
            <a:solidFill>
              <a:srgbClr val="E2DED2"/>
            </a:solidFill>
            <a:prstDash val="solid"/>
          </a:ln>
        </p:spPr>
      </p:sp>
      <p:sp>
        <p:nvSpPr>
          <p:cNvPr id="25" name="Text 19"/>
          <p:cNvSpPr/>
          <p:nvPr/>
        </p:nvSpPr>
        <p:spPr>
          <a:xfrm>
            <a:off x="9790410" y="2310061"/>
            <a:ext cx="148084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02E"/>
                </a:solidFill>
                <a:latin typeface="Kantumruy Pro" pitchFamily="34" charset="0"/>
                <a:ea typeface="Kantumruy Pro" pitchFamily="34" charset="-122"/>
                <a:cs typeface="Kantumruy Pro" pitchFamily="34" charset="-120"/>
              </a:rPr>
              <a:t>H2</a:t>
            </a:r>
            <a:endParaRPr lang="en-US" sz="1500" dirty="0"/>
          </a:p>
        </p:txBody>
      </p:sp>
      <p:sp>
        <p:nvSpPr>
          <p:cNvPr id="26" name="Text 20"/>
          <p:cNvSpPr/>
          <p:nvPr/>
        </p:nvSpPr>
        <p:spPr>
          <a:xfrm>
            <a:off x="9790410" y="2633911"/>
            <a:ext cx="148084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361"/>
                </a:solidFill>
                <a:latin typeface="Kantumruy Pro" pitchFamily="34" charset="0"/>
                <a:ea typeface="Kantumruy Pro" pitchFamily="34" charset="-122"/>
                <a:cs typeface="Kantumruy Pro" pitchFamily="34" charset="-120"/>
              </a:rPr>
              <a:t>ទិន្នន័យ in-memory</a:t>
            </a:r>
            <a:endParaRPr lang="en-US" sz="1200" dirty="0"/>
          </a:p>
        </p:txBody>
      </p:sp>
      <p:sp>
        <p:nvSpPr>
          <p:cNvPr id="27" name="Text 21"/>
          <p:cNvSpPr/>
          <p:nvPr/>
        </p:nvSpPr>
        <p:spPr>
          <a:xfrm>
            <a:off x="9790410" y="2938711"/>
            <a:ext cx="14808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DB</a:t>
            </a:r>
            <a:endParaRPr lang="en-US" sz="1200" dirty="0"/>
          </a:p>
        </p:txBody>
      </p:sp>
      <p:sp>
        <p:nvSpPr>
          <p:cNvPr id="28" name="Text 22"/>
          <p:cNvSpPr/>
          <p:nvPr/>
        </p:nvSpPr>
        <p:spPr>
          <a:xfrm>
            <a:off x="812800" y="3831481"/>
            <a:ext cx="10883392" cy="406400"/>
          </a:xfrm>
          <a:prstGeom prst="rect">
            <a:avLst/>
          </a:prstGeom>
          <a:noFill/>
          <a:ln/>
        </p:spPr>
        <p:txBody>
          <a:bodyPr wrap="square" lIns="0" tIns="0" rIns="0" bIns="0" rtlCol="0" anchor="t">
            <a:normAutofit/>
          </a:bodyPr>
          <a:lstStyle/>
          <a:p>
            <a:pPr algn="l" indent="0" marL="0">
              <a:lnSpc>
                <a:spcPts val="3000"/>
              </a:lnSpc>
              <a:buNone/>
            </a:pPr>
            <a:r>
              <a:rPr lang="en-US" sz="2000" dirty="0">
                <a:solidFill>
                  <a:srgbClr val="13202E"/>
                </a:solidFill>
                <a:latin typeface="Kantumruy Pro" pitchFamily="34" charset="0"/>
                <a:ea typeface="Kantumruy Pro" pitchFamily="34" charset="-122"/>
                <a:cs typeface="Kantumruy Pro" pitchFamily="34" charset="-120"/>
              </a:rPr>
              <a:t>ស្រទាប់នីមួយៗ មានការងារ </a:t>
            </a:r>
            <a:r>
              <a:rPr lang="en-US" sz="2000" b="1" dirty="0">
                <a:solidFill>
                  <a:srgbClr val="13202E"/>
                </a:solidFill>
                <a:latin typeface="Kantumruy Pro" pitchFamily="34" charset="0"/>
                <a:ea typeface="Kantumruy Pro" pitchFamily="34" charset="-122"/>
                <a:cs typeface="Kantumruy Pro" pitchFamily="34" charset="-120"/>
              </a:rPr>
              <a:t>តែមួយ</a:t>
            </a:r>
            <a:r>
              <a:rPr lang="en-US" sz="2000" dirty="0">
                <a:solidFill>
                  <a:srgbClr val="13202E"/>
                </a:solidFill>
                <a:latin typeface="Kantumruy Pro" pitchFamily="34" charset="0"/>
                <a:ea typeface="Kantumruy Pro" pitchFamily="34" charset="-122"/>
                <a:cs typeface="Kantumruy Pro" pitchFamily="34" charset="-120"/>
              </a:rPr>
              <a:t> — ងាយតេស្ត ងាយផ្លាស់ប្តូរ។</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7A3C"/>
                </a:solidFill>
                <a:latin typeface="Kantumruy Pro" pitchFamily="34" charset="0"/>
                <a:ea typeface="Kantumruy Pro" pitchFamily="34" charset="-122"/>
                <a:cs typeface="Kantumruy Pro" pitchFamily="34" charset="-120"/>
              </a:rPr>
              <a:t>ការរចនា</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13202E"/>
                </a:solidFill>
                <a:latin typeface="Kantumruy Pro" pitchFamily="34" charset="0"/>
                <a:ea typeface="Kantumruy Pro" pitchFamily="34" charset="-122"/>
                <a:cs typeface="Kantumruy Pro" pitchFamily="34" charset="-120"/>
              </a:rPr>
              <a:t>Endpoints ទាំង ៧</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3302000"/>
        </p:xfrm>
        <a:graphic>
          <a:graphicData uri="http://schemas.openxmlformats.org/drawingml/2006/table">
            <a:tbl>
              <a:tblPr/>
              <a:tblGrid>
                <a:gridCol w="1688592"/>
                <a:gridCol w="5276850"/>
                <a:gridCol w="3588258"/>
              </a:tblGrid>
              <a:tr h="412750">
                <a:tc>
                  <a:txBody>
                    <a:bodyPr/>
                    <a:lstStyle/>
                    <a:p>
                      <a:pPr indent="0" marL="0">
                        <a:lnSpc>
                          <a:spcPts val="2100"/>
                        </a:lnSpc>
                        <a:buNone/>
                      </a:pPr>
                      <a:r>
                        <a:rPr lang="en-US" sz="1500" b="1" dirty="0">
                          <a:solidFill>
                            <a:srgbClr val="13202E"/>
                          </a:solidFill>
                          <a:latin typeface="Kantumruy Pro" pitchFamily="34" charset="0"/>
                          <a:ea typeface="Kantumruy Pro" pitchFamily="34" charset="-122"/>
                          <a:cs typeface="Kantumruy Pro" pitchFamily="34" charset="-120"/>
                        </a:rPr>
                        <a:t>Method</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BAB7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AB7AD"/>
                      </a:solidFill>
                      <a:prstDash val="solid"/>
                      <a:round/>
                      <a:headEnd type="none" w="med" len="med"/>
                      <a:tailEnd type="none" w="med" len="med"/>
                    </a:lnB>
                    <a:solidFill>
                      <a:srgbClr val="E9E5D9"/>
                    </a:solidFill>
                  </a:tcPr>
                </a:tc>
                <a:tc>
                  <a:txBody>
                    <a:bodyPr/>
                    <a:lstStyle/>
                    <a:p>
                      <a:pPr indent="0" marL="0">
                        <a:lnSpc>
                          <a:spcPts val="2100"/>
                        </a:lnSpc>
                        <a:buNone/>
                      </a:pPr>
                      <a:r>
                        <a:rPr lang="en-US" sz="1500" b="1" dirty="0">
                          <a:solidFill>
                            <a:srgbClr val="13202E"/>
                          </a:solidFill>
                          <a:latin typeface="Kantumruy Pro" pitchFamily="34" charset="0"/>
                          <a:ea typeface="Kantumruy Pro" pitchFamily="34" charset="-122"/>
                          <a:cs typeface="Kantumruy Pro" pitchFamily="34" charset="-120"/>
                        </a:rPr>
                        <a:t>Path</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BAB7AD"/>
                      </a:solidFill>
                      <a:prstDash val="solid"/>
                      <a:round/>
                      <a:headEnd type="none" w="med" len="med"/>
                      <a:tailEnd type="none" w="med" len="med"/>
                    </a:lnL>
                    <a:lnR w="12700" cap="flat" cmpd="sng" algn="ctr">
                      <a:solidFill>
                        <a:srgbClr val="BAB7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AB7AD"/>
                      </a:solidFill>
                      <a:prstDash val="solid"/>
                      <a:round/>
                      <a:headEnd type="none" w="med" len="med"/>
                      <a:tailEnd type="none" w="med" len="med"/>
                    </a:lnB>
                    <a:solidFill>
                      <a:srgbClr val="E9E5D9"/>
                    </a:solidFill>
                  </a:tcPr>
                </a:tc>
                <a:tc>
                  <a:txBody>
                    <a:bodyPr/>
                    <a:lstStyle/>
                    <a:p>
                      <a:pPr indent="0" marL="0">
                        <a:lnSpc>
                          <a:spcPts val="2100"/>
                        </a:lnSpc>
                        <a:buNone/>
                      </a:pPr>
                      <a:r>
                        <a:rPr lang="en-US" sz="1500" b="1" dirty="0">
                          <a:solidFill>
                            <a:srgbClr val="13202E"/>
                          </a:solidFill>
                          <a:latin typeface="Kantumruy Pro" pitchFamily="34" charset="0"/>
                          <a:ea typeface="Kantumruy Pro" pitchFamily="34" charset="-122"/>
                          <a:cs typeface="Kantumruy Pro" pitchFamily="34" charset="-120"/>
                        </a:rPr>
                        <a:t>អ្នកប្រើ</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BAB7AD"/>
                      </a:solidFill>
                      <a:prstDash val="solid"/>
                      <a:round/>
                      <a:headEnd type="none" w="med" len="med"/>
                      <a:tailEnd type="none" w="med" len="med"/>
                    </a:lnL>
                    <a:lnR w="12700" cap="flat" cmpd="sng" algn="ctr">
                      <a:solidFill>
                        <a:srgbClr val="BAB7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AB7AD"/>
                      </a:solidFill>
                      <a:prstDash val="solid"/>
                      <a:round/>
                      <a:headEnd type="none" w="med" len="med"/>
                      <a:tailEnd type="none" w="med" len="med"/>
                    </a:lnB>
                    <a:solidFill>
                      <a:srgbClr val="E9E5D9"/>
                    </a:solidFill>
                  </a:tcPr>
                </a:tc>
              </a:tr>
              <a:tr h="412750">
                <a:tc>
                  <a:txBody>
                    <a:bodyPr/>
                    <a:lstStyle/>
                    <a:p>
                      <a:pPr indent="0" marL="0">
                        <a:lnSpc>
                          <a:spcPts val="2100"/>
                        </a:lnSpc>
                        <a:buNone/>
                      </a:pPr>
                      <a:r>
                        <a:rPr lang="en-US" sz="1500" dirty="0">
                          <a:solidFill>
                            <a:srgbClr val="2E7A3C"/>
                          </a:solidFill>
                          <a:latin typeface="Kantumruy Pro" pitchFamily="34" charset="0"/>
                          <a:ea typeface="Kantumruy Pro" pitchFamily="34" charset="-122"/>
                          <a:cs typeface="Kantumruy Pro" pitchFamily="34" charset="-120"/>
                        </a:rPr>
                        <a:t>GET</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AB7AD"/>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/api/events</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AB7AD"/>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អ្នកណាក៏បាន</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AB7AD"/>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2E7A3C"/>
                          </a:solidFill>
                          <a:latin typeface="Kantumruy Pro" pitchFamily="34" charset="0"/>
                          <a:ea typeface="Kantumruy Pro" pitchFamily="34" charset="-122"/>
                          <a:cs typeface="Kantumruy Pro" pitchFamily="34" charset="-120"/>
                        </a:rPr>
                        <a:t>GET</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/api/events/{id}</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អ្នកណាក៏បាន</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412750">
                <a:tc>
                  <a:txBody>
                    <a:bodyPr/>
                    <a:lstStyle/>
                    <a:p>
                      <a:pPr indent="0" marL="0">
                        <a:lnSpc>
                          <a:spcPts val="2100"/>
                        </a:lnSpc>
                        <a:buNone/>
                      </a:pPr>
                      <a:r>
                        <a:rPr lang="en-US" sz="1500" dirty="0">
                          <a:solidFill>
                            <a:srgbClr val="B5601A"/>
                          </a:solidFill>
                          <a:latin typeface="Kantumruy Pro" pitchFamily="34" charset="0"/>
                          <a:ea typeface="Kantumruy Pro" pitchFamily="34" charset="-122"/>
                          <a:cs typeface="Kantumruy Pro" pitchFamily="34" charset="-120"/>
                        </a:rPr>
                        <a:t>POST</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/api/events/{id}/cancel</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ADMIN តែប៉ុណ្ណោះ</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B5601A"/>
                          </a:solidFill>
                          <a:latin typeface="Kantumruy Pro" pitchFamily="34" charset="0"/>
                          <a:ea typeface="Kantumruy Pro" pitchFamily="34" charset="-122"/>
                          <a:cs typeface="Kantumruy Pro" pitchFamily="34" charset="-120"/>
                        </a:rPr>
                        <a:t>POST</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/api/bookings</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CUSTOMER</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412750">
                <a:tc>
                  <a:txBody>
                    <a:bodyPr/>
                    <a:lstStyle/>
                    <a:p>
                      <a:pPr indent="0" marL="0">
                        <a:lnSpc>
                          <a:spcPts val="2100"/>
                        </a:lnSpc>
                        <a:buNone/>
                      </a:pPr>
                      <a:r>
                        <a:rPr lang="en-US" sz="1500" dirty="0">
                          <a:solidFill>
                            <a:srgbClr val="2E7A3C"/>
                          </a:solidFill>
                          <a:latin typeface="Kantumruy Pro" pitchFamily="34" charset="0"/>
                          <a:ea typeface="Kantumruy Pro" pitchFamily="34" charset="-122"/>
                          <a:cs typeface="Kantumruy Pro" pitchFamily="34" charset="-120"/>
                        </a:rPr>
                        <a:t>GET</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/api/bookings/me</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CUSTOMER</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2E7A3C"/>
                          </a:solidFill>
                          <a:latin typeface="Kantumruy Pro" pitchFamily="34" charset="0"/>
                          <a:ea typeface="Kantumruy Pro" pitchFamily="34" charset="-122"/>
                          <a:cs typeface="Kantumruy Pro" pitchFamily="34" charset="-120"/>
                        </a:rPr>
                        <a:t>GET</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/api/bookings/{id}</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ម្ចាស់ តែប៉ុណ្ណោះ</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412750">
                <a:tc>
                  <a:txBody>
                    <a:bodyPr/>
                    <a:lstStyle/>
                    <a:p>
                      <a:pPr indent="0" marL="0">
                        <a:lnSpc>
                          <a:spcPts val="2100"/>
                        </a:lnSpc>
                        <a:buNone/>
                      </a:pPr>
                      <a:r>
                        <a:rPr lang="en-US" sz="1500" dirty="0">
                          <a:solidFill>
                            <a:srgbClr val="B5601A"/>
                          </a:solidFill>
                          <a:latin typeface="Kantumruy Pro" pitchFamily="34" charset="0"/>
                          <a:ea typeface="Kantumruy Pro" pitchFamily="34" charset="-122"/>
                          <a:cs typeface="Kantumruy Pro" pitchFamily="34" charset="-120"/>
                        </a:rPr>
                        <a:t>POST</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Kantumruy Pro" pitchFamily="34" charset="0"/>
                          <a:ea typeface="Kantumruy Pro" pitchFamily="34" charset="-122"/>
                          <a:cs typeface="Kantumruy Pro" pitchFamily="34" charset="-120"/>
                        </a:rPr>
                        <a:t>/api/bookings/{id}/cancel</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2100"/>
                        </a:lnSpc>
                        <a:buNone/>
                      </a:pPr>
                      <a:r>
                        <a:rPr lang="en-US" sz="1500" dirty="0">
                          <a:solidFill>
                            <a:srgbClr val="4A5361"/>
                          </a:solidFill>
                          <a:latin typeface="Kantumruy Pro" pitchFamily="34" charset="0"/>
                          <a:ea typeface="Kantumruy Pro" pitchFamily="34" charset="-122"/>
                          <a:cs typeface="Kantumruy Pro" pitchFamily="34" charset="-120"/>
                        </a:rPr>
                        <a:t>ម្ចាស់ តែប៉ុណ្ណោះ</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7A3C"/>
                </a:solidFill>
                <a:latin typeface="Kantumruy Pro" pitchFamily="34" charset="0"/>
                <a:ea typeface="Kantumruy Pro" pitchFamily="34" charset="-122"/>
                <a:cs typeface="Kantumruy Pro" pitchFamily="34" charset="-120"/>
              </a:rPr>
              <a:t>ការរចនា · POST /api/bookings</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13202E"/>
                </a:solidFill>
                <a:latin typeface="Kantumruy Pro" pitchFamily="34" charset="0"/>
                <a:ea typeface="Kantumruy Pro" pitchFamily="34" charset="-122"/>
                <a:cs typeface="Kantumruy Pro" pitchFamily="34" charset="-120"/>
              </a:rPr>
              <a:t>លំដាប់ នៃការពិនិត្យ ពេលកក់</a:t>
            </a:r>
            <a:endParaRPr lang="en-US" sz="3200" dirty="0"/>
          </a:p>
        </p:txBody>
      </p:sp>
      <p:sp>
        <p:nvSpPr>
          <p:cNvPr id="4" name="Shape 2"/>
          <p:cNvSpPr/>
          <p:nvPr/>
        </p:nvSpPr>
        <p:spPr>
          <a:xfrm>
            <a:off x="812800" y="2355106"/>
            <a:ext cx="10566400" cy="0"/>
          </a:xfrm>
          <a:prstGeom prst="line">
            <a:avLst/>
          </a:prstGeom>
          <a:noFill/>
          <a:ln w="6350">
            <a:solidFill>
              <a:srgbClr val="E2DED2"/>
            </a:solidFill>
            <a:prstDash val="solid"/>
          </a:ln>
        </p:spPr>
      </p:sp>
      <p:sp>
        <p:nvSpPr>
          <p:cNvPr id="5" name="Text 3"/>
          <p:cNvSpPr/>
          <p:nvPr/>
        </p:nvSpPr>
        <p:spPr>
          <a:xfrm>
            <a:off x="812800" y="2011611"/>
            <a:ext cx="35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1</a:t>
            </a:r>
            <a:endParaRPr lang="en-US" sz="1200" dirty="0"/>
          </a:p>
        </p:txBody>
      </p:sp>
      <p:sp>
        <p:nvSpPr>
          <p:cNvPr id="6" name="Text 4"/>
          <p:cNvSpPr/>
          <p:nvPr/>
        </p:nvSpPr>
        <p:spPr>
          <a:xfrm>
            <a:off x="1270000" y="1975396"/>
            <a:ext cx="9711314"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3202E"/>
                </a:solidFill>
                <a:latin typeface="Kantumruy Pro" pitchFamily="34" charset="0"/>
                <a:ea typeface="Kantumruy Pro" pitchFamily="34" charset="-122"/>
                <a:cs typeface="Kantumruy Pro" pitchFamily="34" charset="-120"/>
              </a:rPr>
              <a:t>Authentication — username និង password ត្រឹមត្រូវ?</a:t>
            </a:r>
            <a:endParaRPr lang="en-US" sz="1500" dirty="0"/>
          </a:p>
        </p:txBody>
      </p:sp>
      <p:sp>
        <p:nvSpPr>
          <p:cNvPr id="7" name="Shape 5"/>
          <p:cNvSpPr/>
          <p:nvPr/>
        </p:nvSpPr>
        <p:spPr>
          <a:xfrm>
            <a:off x="10850860" y="1960811"/>
            <a:ext cx="528340" cy="314920"/>
          </a:xfrm>
          <a:prstGeom prst="roundRect">
            <a:avLst>
              <a:gd name="adj" fmla="val 50000"/>
            </a:avLst>
          </a:prstGeom>
          <a:solidFill>
            <a:srgbClr val="13202E"/>
          </a:solidFill>
          <a:ln/>
        </p:spPr>
      </p:sp>
      <p:sp>
        <p:nvSpPr>
          <p:cNvPr id="8" name="Text 6"/>
          <p:cNvSpPr/>
          <p:nvPr/>
        </p:nvSpPr>
        <p:spPr>
          <a:xfrm>
            <a:off x="10977860" y="2011611"/>
            <a:ext cx="3251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401</a:t>
            </a:r>
            <a:endParaRPr lang="en-US" sz="1200" dirty="0"/>
          </a:p>
        </p:txBody>
      </p:sp>
      <p:sp>
        <p:nvSpPr>
          <p:cNvPr id="9" name="Shape 7"/>
          <p:cNvSpPr/>
          <p:nvPr/>
        </p:nvSpPr>
        <p:spPr>
          <a:xfrm>
            <a:off x="812800" y="2828776"/>
            <a:ext cx="10566400" cy="0"/>
          </a:xfrm>
          <a:prstGeom prst="line">
            <a:avLst/>
          </a:prstGeom>
          <a:noFill/>
          <a:ln w="6350">
            <a:solidFill>
              <a:srgbClr val="E2DED2"/>
            </a:solidFill>
            <a:prstDash val="solid"/>
          </a:ln>
        </p:spPr>
      </p:sp>
      <p:sp>
        <p:nvSpPr>
          <p:cNvPr id="10" name="Text 8"/>
          <p:cNvSpPr/>
          <p:nvPr/>
        </p:nvSpPr>
        <p:spPr>
          <a:xfrm>
            <a:off x="812800" y="2485281"/>
            <a:ext cx="35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2</a:t>
            </a:r>
            <a:endParaRPr lang="en-US" sz="1200" dirty="0"/>
          </a:p>
        </p:txBody>
      </p:sp>
      <p:sp>
        <p:nvSpPr>
          <p:cNvPr id="11" name="Text 9"/>
          <p:cNvSpPr/>
          <p:nvPr/>
        </p:nvSpPr>
        <p:spPr>
          <a:xfrm>
            <a:off x="1270000" y="2449066"/>
            <a:ext cx="9711314"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3202E"/>
                </a:solidFill>
                <a:latin typeface="Kantumruy Pro" pitchFamily="34" charset="0"/>
                <a:ea typeface="Kantumruy Pro" pitchFamily="34" charset="-122"/>
                <a:cs typeface="Kantumruy Pro" pitchFamily="34" charset="-120"/>
              </a:rPr>
              <a:t>Role ជា CUSTOMER?</a:t>
            </a:r>
            <a:endParaRPr lang="en-US" sz="1500" dirty="0"/>
          </a:p>
        </p:txBody>
      </p:sp>
      <p:sp>
        <p:nvSpPr>
          <p:cNvPr id="12" name="Shape 10"/>
          <p:cNvSpPr/>
          <p:nvPr/>
        </p:nvSpPr>
        <p:spPr>
          <a:xfrm>
            <a:off x="10850860" y="2434481"/>
            <a:ext cx="528340" cy="314920"/>
          </a:xfrm>
          <a:prstGeom prst="roundRect">
            <a:avLst>
              <a:gd name="adj" fmla="val 50000"/>
            </a:avLst>
          </a:prstGeom>
          <a:solidFill>
            <a:srgbClr val="13202E"/>
          </a:solidFill>
          <a:ln/>
        </p:spPr>
      </p:sp>
      <p:sp>
        <p:nvSpPr>
          <p:cNvPr id="13" name="Text 11"/>
          <p:cNvSpPr/>
          <p:nvPr/>
        </p:nvSpPr>
        <p:spPr>
          <a:xfrm>
            <a:off x="10977860" y="2485281"/>
            <a:ext cx="3251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403</a:t>
            </a:r>
            <a:endParaRPr lang="en-US" sz="1200" dirty="0"/>
          </a:p>
        </p:txBody>
      </p:sp>
      <p:sp>
        <p:nvSpPr>
          <p:cNvPr id="14" name="Shape 12"/>
          <p:cNvSpPr/>
          <p:nvPr/>
        </p:nvSpPr>
        <p:spPr>
          <a:xfrm>
            <a:off x="812800" y="3302446"/>
            <a:ext cx="10566400" cy="0"/>
          </a:xfrm>
          <a:prstGeom prst="line">
            <a:avLst/>
          </a:prstGeom>
          <a:noFill/>
          <a:ln w="6350">
            <a:solidFill>
              <a:srgbClr val="E2DED2"/>
            </a:solidFill>
            <a:prstDash val="solid"/>
          </a:ln>
        </p:spPr>
      </p:sp>
      <p:sp>
        <p:nvSpPr>
          <p:cNvPr id="15" name="Text 13"/>
          <p:cNvSpPr/>
          <p:nvPr/>
        </p:nvSpPr>
        <p:spPr>
          <a:xfrm>
            <a:off x="812800" y="2958951"/>
            <a:ext cx="35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3</a:t>
            </a:r>
            <a:endParaRPr lang="en-US" sz="1200" dirty="0"/>
          </a:p>
        </p:txBody>
      </p:sp>
      <p:sp>
        <p:nvSpPr>
          <p:cNvPr id="16" name="Text 14"/>
          <p:cNvSpPr/>
          <p:nvPr/>
        </p:nvSpPr>
        <p:spPr>
          <a:xfrm>
            <a:off x="1270000" y="2922736"/>
            <a:ext cx="9711314"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3202E"/>
                </a:solidFill>
                <a:latin typeface="Kantumruy Pro" pitchFamily="34" charset="0"/>
                <a:ea typeface="Kantumruy Pro" pitchFamily="34" charset="-122"/>
                <a:cs typeface="Kantumruy Pro" pitchFamily="34" charset="-120"/>
              </a:rPr>
              <a:t>Validation — quantity ពី 1 ដល់ 4 មិនទទេ?</a:t>
            </a:r>
            <a:endParaRPr lang="en-US" sz="1500" dirty="0"/>
          </a:p>
        </p:txBody>
      </p:sp>
      <p:sp>
        <p:nvSpPr>
          <p:cNvPr id="17" name="Shape 15"/>
          <p:cNvSpPr/>
          <p:nvPr/>
        </p:nvSpPr>
        <p:spPr>
          <a:xfrm>
            <a:off x="10850860" y="2908151"/>
            <a:ext cx="528340" cy="314920"/>
          </a:xfrm>
          <a:prstGeom prst="roundRect">
            <a:avLst>
              <a:gd name="adj" fmla="val 50000"/>
            </a:avLst>
          </a:prstGeom>
          <a:solidFill>
            <a:srgbClr val="13202E"/>
          </a:solidFill>
          <a:ln/>
        </p:spPr>
      </p:sp>
      <p:sp>
        <p:nvSpPr>
          <p:cNvPr id="18" name="Text 16"/>
          <p:cNvSpPr/>
          <p:nvPr/>
        </p:nvSpPr>
        <p:spPr>
          <a:xfrm>
            <a:off x="10977860" y="2958951"/>
            <a:ext cx="3251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400</a:t>
            </a:r>
            <a:endParaRPr lang="en-US" sz="1200" dirty="0"/>
          </a:p>
        </p:txBody>
      </p:sp>
      <p:sp>
        <p:nvSpPr>
          <p:cNvPr id="19" name="Shape 17"/>
          <p:cNvSpPr/>
          <p:nvPr/>
        </p:nvSpPr>
        <p:spPr>
          <a:xfrm>
            <a:off x="812800" y="3776117"/>
            <a:ext cx="10566400" cy="0"/>
          </a:xfrm>
          <a:prstGeom prst="line">
            <a:avLst/>
          </a:prstGeom>
          <a:noFill/>
          <a:ln w="6350">
            <a:solidFill>
              <a:srgbClr val="E2DED2"/>
            </a:solidFill>
            <a:prstDash val="solid"/>
          </a:ln>
        </p:spPr>
      </p:sp>
      <p:sp>
        <p:nvSpPr>
          <p:cNvPr id="20" name="Text 18"/>
          <p:cNvSpPr/>
          <p:nvPr/>
        </p:nvSpPr>
        <p:spPr>
          <a:xfrm>
            <a:off x="812800" y="3432621"/>
            <a:ext cx="35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4</a:t>
            </a:r>
            <a:endParaRPr lang="en-US" sz="1200" dirty="0"/>
          </a:p>
        </p:txBody>
      </p:sp>
      <p:sp>
        <p:nvSpPr>
          <p:cNvPr id="21" name="Text 19"/>
          <p:cNvSpPr/>
          <p:nvPr/>
        </p:nvSpPr>
        <p:spPr>
          <a:xfrm>
            <a:off x="1270000" y="3396407"/>
            <a:ext cx="9146225"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3202E"/>
                </a:solidFill>
                <a:latin typeface="Kantumruy Pro" pitchFamily="34" charset="0"/>
                <a:ea typeface="Kantumruy Pro" pitchFamily="34" charset="-122"/>
                <a:cs typeface="Kantumruy Pro" pitchFamily="34" charset="-120"/>
              </a:rPr>
              <a:t>Atomic UPDATE — កាត់កៅអី ក្នុងជំហានតែមួយ</a:t>
            </a:r>
            <a:endParaRPr lang="en-US" sz="1500" dirty="0"/>
          </a:p>
        </p:txBody>
      </p:sp>
      <p:sp>
        <p:nvSpPr>
          <p:cNvPr id="22" name="Shape 20"/>
          <p:cNvSpPr/>
          <p:nvPr/>
        </p:nvSpPr>
        <p:spPr>
          <a:xfrm>
            <a:off x="10302230" y="3381821"/>
            <a:ext cx="1076970" cy="314920"/>
          </a:xfrm>
          <a:prstGeom prst="roundRect">
            <a:avLst>
              <a:gd name="adj" fmla="val 50000"/>
            </a:avLst>
          </a:prstGeom>
          <a:solidFill>
            <a:srgbClr val="13202E"/>
          </a:solidFill>
          <a:ln/>
        </p:spPr>
      </p:sp>
      <p:sp>
        <p:nvSpPr>
          <p:cNvPr id="23" name="Text 21"/>
          <p:cNvSpPr/>
          <p:nvPr/>
        </p:nvSpPr>
        <p:spPr>
          <a:xfrm>
            <a:off x="10429230" y="3432621"/>
            <a:ext cx="87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404 · 409</a:t>
            </a:r>
            <a:endParaRPr lang="en-US" sz="1200" dirty="0"/>
          </a:p>
        </p:txBody>
      </p:sp>
      <p:sp>
        <p:nvSpPr>
          <p:cNvPr id="24" name="Shape 22"/>
          <p:cNvSpPr/>
          <p:nvPr/>
        </p:nvSpPr>
        <p:spPr>
          <a:xfrm>
            <a:off x="812800" y="4249787"/>
            <a:ext cx="10566400" cy="0"/>
          </a:xfrm>
          <a:prstGeom prst="line">
            <a:avLst/>
          </a:prstGeom>
          <a:noFill/>
          <a:ln w="6350">
            <a:solidFill>
              <a:srgbClr val="E2DED2"/>
            </a:solidFill>
            <a:prstDash val="solid"/>
          </a:ln>
        </p:spPr>
      </p:sp>
      <p:sp>
        <p:nvSpPr>
          <p:cNvPr id="25" name="Text 23"/>
          <p:cNvSpPr/>
          <p:nvPr/>
        </p:nvSpPr>
        <p:spPr>
          <a:xfrm>
            <a:off x="812800" y="3906292"/>
            <a:ext cx="35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5</a:t>
            </a:r>
            <a:endParaRPr lang="en-US" sz="1200" dirty="0"/>
          </a:p>
        </p:txBody>
      </p:sp>
      <p:sp>
        <p:nvSpPr>
          <p:cNvPr id="26" name="Text 24"/>
          <p:cNvSpPr/>
          <p:nvPr/>
        </p:nvSpPr>
        <p:spPr>
          <a:xfrm>
            <a:off x="1270000" y="3870077"/>
            <a:ext cx="98996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3202E"/>
                </a:solidFill>
                <a:latin typeface="Kantumruy Pro" pitchFamily="34" charset="0"/>
                <a:ea typeface="Kantumruy Pro" pitchFamily="34" charset="-122"/>
                <a:cs typeface="Kantumruy Pro" pitchFamily="34" charset="-120"/>
              </a:rPr>
              <a:t>គណនាតម្លៃ ដោយ server — price × quantity</a:t>
            </a:r>
            <a:endParaRPr lang="en-US" sz="1500" dirty="0"/>
          </a:p>
        </p:txBody>
      </p:sp>
      <p:sp>
        <p:nvSpPr>
          <p:cNvPr id="27" name="Shape 25"/>
          <p:cNvSpPr/>
          <p:nvPr/>
        </p:nvSpPr>
        <p:spPr>
          <a:xfrm>
            <a:off x="11033720" y="3855492"/>
            <a:ext cx="345480" cy="314920"/>
          </a:xfrm>
          <a:prstGeom prst="roundRect">
            <a:avLst>
              <a:gd name="adj" fmla="val 50000"/>
            </a:avLst>
          </a:prstGeom>
          <a:solidFill>
            <a:srgbClr val="13202E"/>
          </a:solidFill>
          <a:ln/>
        </p:spPr>
      </p:sp>
      <p:sp>
        <p:nvSpPr>
          <p:cNvPr id="28" name="Text 26"/>
          <p:cNvSpPr/>
          <p:nvPr/>
        </p:nvSpPr>
        <p:spPr>
          <a:xfrm>
            <a:off x="11160720" y="3906292"/>
            <a:ext cx="142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a:t>
            </a:r>
            <a:endParaRPr lang="en-US" sz="1200" dirty="0"/>
          </a:p>
        </p:txBody>
      </p:sp>
      <p:sp>
        <p:nvSpPr>
          <p:cNvPr id="29" name="Text 27"/>
          <p:cNvSpPr/>
          <p:nvPr/>
        </p:nvSpPr>
        <p:spPr>
          <a:xfrm>
            <a:off x="812800" y="4379962"/>
            <a:ext cx="35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6</a:t>
            </a:r>
            <a:endParaRPr lang="en-US" sz="1200" dirty="0"/>
          </a:p>
        </p:txBody>
      </p:sp>
      <p:sp>
        <p:nvSpPr>
          <p:cNvPr id="30" name="Text 28"/>
          <p:cNvSpPr/>
          <p:nvPr/>
        </p:nvSpPr>
        <p:spPr>
          <a:xfrm>
            <a:off x="1270000" y="4343747"/>
            <a:ext cx="9711314"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3202E"/>
                </a:solidFill>
                <a:latin typeface="Kantumruy Pro" pitchFamily="34" charset="0"/>
                <a:ea typeface="Kantumruy Pro" pitchFamily="34" charset="-122"/>
                <a:cs typeface="Kantumruy Pro" pitchFamily="34" charset="-120"/>
              </a:rPr>
              <a:t>រក្សាទុក booking ជា CONFIRMED</a:t>
            </a:r>
            <a:endParaRPr lang="en-US" sz="1500" dirty="0"/>
          </a:p>
        </p:txBody>
      </p:sp>
      <p:sp>
        <p:nvSpPr>
          <p:cNvPr id="31" name="Shape 29"/>
          <p:cNvSpPr/>
          <p:nvPr/>
        </p:nvSpPr>
        <p:spPr>
          <a:xfrm>
            <a:off x="10850860" y="4329162"/>
            <a:ext cx="528340" cy="314920"/>
          </a:xfrm>
          <a:prstGeom prst="roundRect">
            <a:avLst>
              <a:gd name="adj" fmla="val 50000"/>
            </a:avLst>
          </a:prstGeom>
          <a:solidFill>
            <a:srgbClr val="2E7A3C"/>
          </a:solidFill>
          <a:ln/>
        </p:spPr>
      </p:sp>
      <p:sp>
        <p:nvSpPr>
          <p:cNvPr id="32" name="Text 30"/>
          <p:cNvSpPr/>
          <p:nvPr/>
        </p:nvSpPr>
        <p:spPr>
          <a:xfrm>
            <a:off x="10977860" y="4379962"/>
            <a:ext cx="3251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201</a:t>
            </a:r>
            <a:endParaRPr lang="en-US" sz="1200" dirty="0"/>
          </a:p>
        </p:txBody>
      </p:sp>
      <p:sp>
        <p:nvSpPr>
          <p:cNvPr id="33" name="Text 31"/>
          <p:cNvSpPr/>
          <p:nvPr/>
        </p:nvSpPr>
        <p:spPr>
          <a:xfrm>
            <a:off x="812800" y="4974282"/>
            <a:ext cx="10883392"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4A5361"/>
                </a:solidFill>
                <a:latin typeface="Kantumruy Pro" pitchFamily="34" charset="0"/>
                <a:ea typeface="Kantumruy Pro" pitchFamily="34" charset="-122"/>
                <a:cs typeface="Kantumruy Pro" pitchFamily="34" charset="-120"/>
              </a:rPr>
              <a:t>ហេតុអ្វី លំដាប់នេះ?</a:t>
            </a:r>
            <a:r>
              <a:rPr lang="en-US" sz="1500" dirty="0">
                <a:solidFill>
                  <a:srgbClr val="4A5361"/>
                </a:solidFill>
                <a:latin typeface="Kantumruy Pro" pitchFamily="34" charset="0"/>
                <a:ea typeface="Kantumruy Pro" pitchFamily="34" charset="-122"/>
                <a:cs typeface="Kantumruy Pro" pitchFamily="34" charset="-120"/>
              </a:rPr>
              <a:t> ការពិនិត្យថោកៗ មុន — មិនប៉ះ database បើ password ខុស ឬ quantity = 7។</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4B"/>
                </a:solidFill>
                <a:latin typeface="Kantumruy Pro" pitchFamily="34" charset="0"/>
                <a:ea typeface="Kantumruy Pro" pitchFamily="34" charset="-122"/>
                <a:cs typeface="Kantumruy Pro" pitchFamily="34" charset="-120"/>
              </a:rPr>
              <a:t>ការរចនា · ច្បាប់ 1 និង 2</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F5F3EC"/>
                </a:solidFill>
                <a:latin typeface="Kantumruy Pro" pitchFamily="34" charset="0"/>
                <a:ea typeface="Kantumruy Pro" pitchFamily="34" charset="-122"/>
                <a:cs typeface="Kantumruy Pro" pitchFamily="34" charset="-120"/>
              </a:rPr>
              <a:t>បញ្ហា Race Condition</a:t>
            </a:r>
            <a:endParaRPr lang="en-US" sz="3200" dirty="0"/>
          </a:p>
        </p:txBody>
      </p:sp>
      <p:sp>
        <p:nvSpPr>
          <p:cNvPr id="4" name="Shape 2"/>
          <p:cNvSpPr/>
          <p:nvPr/>
        </p:nvSpPr>
        <p:spPr>
          <a:xfrm>
            <a:off x="812800" y="1833811"/>
            <a:ext cx="4406900" cy="590550"/>
          </a:xfrm>
          <a:prstGeom prst="roundRect">
            <a:avLst>
              <a:gd name="adj" fmla="val 17204"/>
            </a:avLst>
          </a:prstGeom>
          <a:solidFill>
            <a:srgbClr val="1F3144"/>
          </a:solidFill>
          <a:ln/>
        </p:spPr>
      </p:sp>
      <p:sp>
        <p:nvSpPr>
          <p:cNvPr id="5" name="Text 3"/>
          <p:cNvSpPr/>
          <p:nvPr/>
        </p:nvSpPr>
        <p:spPr>
          <a:xfrm>
            <a:off x="1016000" y="1986211"/>
            <a:ext cx="4120515"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5F3EC"/>
                </a:solidFill>
                <a:latin typeface="JetBrains Mono" pitchFamily="34" charset="0"/>
                <a:ea typeface="JetBrains Mono" pitchFamily="34" charset="-122"/>
                <a:cs typeface="JetBrains Mono" pitchFamily="34" charset="-120"/>
              </a:rPr>
              <a:t>if (seatsLeft &gt;= q) seatsLeft -= q;</a:t>
            </a:r>
            <a:endParaRPr lang="en-US" sz="1500" dirty="0"/>
          </a:p>
        </p:txBody>
      </p:sp>
      <p:sp>
        <p:nvSpPr>
          <p:cNvPr id="6" name="Text 4"/>
          <p:cNvSpPr/>
          <p:nvPr/>
        </p:nvSpPr>
        <p:spPr>
          <a:xfrm>
            <a:off x="5422900" y="1986211"/>
            <a:ext cx="3223649"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C9D3DC"/>
                </a:solidFill>
                <a:latin typeface="Kantumruy Pro" pitchFamily="34" charset="0"/>
                <a:ea typeface="Kantumruy Pro" pitchFamily="34" charset="-122"/>
                <a:cs typeface="Kantumruy Pro" pitchFamily="34" charset="-120"/>
              </a:rPr>
              <a:t>កូដសាមញ្ញ — អាន រួចសរសេរ ជា ២ ជំហាន</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640261"/>
          <a:ext cx="10553700" cy="2063750"/>
        </p:xfrm>
        <a:graphic>
          <a:graphicData uri="http://schemas.openxmlformats.org/drawingml/2006/table">
            <a:tbl>
              <a:tblPr/>
              <a:tblGrid>
                <a:gridCol w="1688592"/>
                <a:gridCol w="4432554"/>
                <a:gridCol w="4432554"/>
              </a:tblGrid>
              <a:tr h="412750">
                <a:tc>
                  <a:txBody>
                    <a:bodyPr/>
                    <a:lstStyle/>
                    <a:p>
                      <a:pPr indent="0" marL="0">
                        <a:lnSpc>
                          <a:spcPts val="2100"/>
                        </a:lnSpc>
                        <a:buNone/>
                      </a:pPr>
                      <a:r>
                        <a:rPr lang="en-US" sz="1500" b="1" dirty="0">
                          <a:solidFill>
                            <a:srgbClr val="F5F3EC"/>
                          </a:solidFill>
                          <a:latin typeface="Kantumruy Pro" pitchFamily="34" charset="0"/>
                          <a:ea typeface="Kantumruy Pro" pitchFamily="34" charset="-122"/>
                          <a:cs typeface="Kantumruy Pro" pitchFamily="34" charset="-120"/>
                        </a:rPr>
                        <a:t>ពេល</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F5D6B"/>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F5D6B"/>
                      </a:solidFill>
                      <a:prstDash val="solid"/>
                      <a:round/>
                      <a:headEnd type="none" w="med" len="med"/>
                      <a:tailEnd type="none" w="med" len="med"/>
                    </a:lnB>
                    <a:solidFill>
                      <a:srgbClr val="1F3144"/>
                    </a:solidFill>
                  </a:tcPr>
                </a:tc>
                <a:tc>
                  <a:txBody>
                    <a:bodyPr/>
                    <a:lstStyle/>
                    <a:p>
                      <a:pPr indent="0" marL="0">
                        <a:lnSpc>
                          <a:spcPts val="2100"/>
                        </a:lnSpc>
                        <a:buNone/>
                      </a:pPr>
                      <a:r>
                        <a:rPr lang="en-US" sz="1500" b="1" dirty="0">
                          <a:solidFill>
                            <a:srgbClr val="F5F3EC"/>
                          </a:solidFill>
                          <a:latin typeface="Kantumruy Pro" pitchFamily="34" charset="0"/>
                          <a:ea typeface="Kantumruy Pro" pitchFamily="34" charset="-122"/>
                          <a:cs typeface="Kantumruy Pro" pitchFamily="34" charset="-120"/>
                        </a:rPr>
                        <a:t>អ្នកប្រើ A</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F5D6B"/>
                      </a:solidFill>
                      <a:prstDash val="solid"/>
                      <a:round/>
                      <a:headEnd type="none" w="med" len="med"/>
                      <a:tailEnd type="none" w="med" len="med"/>
                    </a:lnL>
                    <a:lnR w="12700" cap="flat" cmpd="sng" algn="ctr">
                      <a:solidFill>
                        <a:srgbClr val="4F5D6B"/>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F5D6B"/>
                      </a:solidFill>
                      <a:prstDash val="solid"/>
                      <a:round/>
                      <a:headEnd type="none" w="med" len="med"/>
                      <a:tailEnd type="none" w="med" len="med"/>
                    </a:lnB>
                    <a:solidFill>
                      <a:srgbClr val="1F3144"/>
                    </a:solidFill>
                  </a:tcPr>
                </a:tc>
                <a:tc>
                  <a:txBody>
                    <a:bodyPr/>
                    <a:lstStyle/>
                    <a:p>
                      <a:pPr indent="0" marL="0">
                        <a:lnSpc>
                          <a:spcPts val="2100"/>
                        </a:lnSpc>
                        <a:buNone/>
                      </a:pPr>
                      <a:r>
                        <a:rPr lang="en-US" sz="1500" b="1" dirty="0">
                          <a:solidFill>
                            <a:srgbClr val="F5F3EC"/>
                          </a:solidFill>
                          <a:latin typeface="Kantumruy Pro" pitchFamily="34" charset="0"/>
                          <a:ea typeface="Kantumruy Pro" pitchFamily="34" charset="-122"/>
                          <a:cs typeface="Kantumruy Pro" pitchFamily="34" charset="-120"/>
                        </a:rPr>
                        <a:t>អ្នកប្រើ B</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F5D6B"/>
                      </a:solidFill>
                      <a:prstDash val="solid"/>
                      <a:round/>
                      <a:headEnd type="none" w="med" len="med"/>
                      <a:tailEnd type="none" w="med" len="med"/>
                    </a:lnL>
                    <a:lnR w="12700" cap="flat" cmpd="sng" algn="ctr">
                      <a:solidFill>
                        <a:srgbClr val="4F5D6B"/>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F5D6B"/>
                      </a:solidFill>
                      <a:prstDash val="solid"/>
                      <a:round/>
                      <a:headEnd type="none" w="med" len="med"/>
                      <a:tailEnd type="none" w="med" len="med"/>
                    </a:lnB>
                    <a:solidFill>
                      <a:srgbClr val="1F3144"/>
                    </a:solidFill>
                  </a:tcPr>
                </a:tc>
              </a:tr>
              <a:tr h="412750">
                <a:tc>
                  <a:txBody>
                    <a:bodyPr/>
                    <a:lstStyle/>
                    <a:p>
                      <a:pPr indent="0" marL="0">
                        <a:lnSpc>
                          <a:spcPts val="2100"/>
                        </a:lnSpc>
                        <a:buNone/>
                      </a:pPr>
                      <a:r>
                        <a:rPr lang="en-US" sz="1500" dirty="0">
                          <a:solidFill>
                            <a:srgbClr val="C9D3DC"/>
                          </a:solidFill>
                          <a:latin typeface="Kantumruy Pro" pitchFamily="34" charset="0"/>
                          <a:ea typeface="Kantumruy Pro" pitchFamily="34" charset="-122"/>
                          <a:cs typeface="Kantumruy Pro" pitchFamily="34" charset="-120"/>
                        </a:rPr>
                        <a:t>t1</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F5D6B"/>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indent="0" marL="0">
                        <a:lnSpc>
                          <a:spcPts val="2100"/>
                        </a:lnSpc>
                        <a:buNone/>
                      </a:pPr>
                      <a:r>
                        <a:rPr lang="en-US" sz="1500" dirty="0">
                          <a:solidFill>
                            <a:srgbClr val="F5F3EC"/>
                          </a:solidFill>
                          <a:latin typeface="Kantumruy Pro" pitchFamily="34" charset="0"/>
                          <a:ea typeface="Kantumruy Pro" pitchFamily="34" charset="-122"/>
                          <a:cs typeface="Kantumruy Pro" pitchFamily="34" charset="-120"/>
                        </a:rPr>
                        <a:t>អាន: នៅសល់ 1 → OK</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F5D6B"/>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indent="0" marL="0">
                        <a:lnSpc>
                          <a:spcPts val="2100"/>
                        </a:lnSpc>
                        <a:buNone/>
                      </a:pPr>
                      <a:r>
                        <a:rPr lang="en-US" sz="1500" dirty="0">
                          <a:solidFill>
                            <a:srgbClr val="C9D3DC"/>
                          </a:solidFill>
                          <a:latin typeface="Kantumruy Pro" pitchFamily="34" charset="0"/>
                          <a:ea typeface="Kantumruy Pro" pitchFamily="34" charset="-122"/>
                          <a:cs typeface="Kantumruy Pro" pitchFamily="34" charset="-120"/>
                        </a:rPr>
                        <a:t>—</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F5D6B"/>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r>
              <a:tr h="412750">
                <a:tc>
                  <a:txBody>
                    <a:bodyPr/>
                    <a:lstStyle/>
                    <a:p>
                      <a:pPr indent="0" marL="0">
                        <a:lnSpc>
                          <a:spcPts val="2100"/>
                        </a:lnSpc>
                        <a:buNone/>
                      </a:pPr>
                      <a:r>
                        <a:rPr lang="en-US" sz="1500" dirty="0">
                          <a:solidFill>
                            <a:srgbClr val="C9D3DC"/>
                          </a:solidFill>
                          <a:latin typeface="Kantumruy Pro" pitchFamily="34" charset="0"/>
                          <a:ea typeface="Kantumruy Pro" pitchFamily="34" charset="-122"/>
                          <a:cs typeface="Kantumruy Pro" pitchFamily="34" charset="-120"/>
                        </a:rPr>
                        <a:t>t2</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indent="0" marL="0">
                        <a:lnSpc>
                          <a:spcPts val="2100"/>
                        </a:lnSpc>
                        <a:buNone/>
                      </a:pPr>
                      <a:r>
                        <a:rPr lang="en-US" sz="1500" dirty="0">
                          <a:solidFill>
                            <a:srgbClr val="C9D3DC"/>
                          </a:solidFill>
                          <a:latin typeface="Kantumruy Pro" pitchFamily="34" charset="0"/>
                          <a:ea typeface="Kantumruy Pro" pitchFamily="34" charset="-122"/>
                          <a:cs typeface="Kantumruy Pro" pitchFamily="34" charset="-120"/>
                        </a:rPr>
                        <a:t>—</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indent="0" marL="0">
                        <a:lnSpc>
                          <a:spcPts val="2100"/>
                        </a:lnSpc>
                        <a:buNone/>
                      </a:pPr>
                      <a:r>
                        <a:rPr lang="en-US" sz="1500" dirty="0">
                          <a:solidFill>
                            <a:srgbClr val="F5F3EC"/>
                          </a:solidFill>
                          <a:latin typeface="Kantumruy Pro" pitchFamily="34" charset="0"/>
                          <a:ea typeface="Kantumruy Pro" pitchFamily="34" charset="-122"/>
                          <a:cs typeface="Kantumruy Pro" pitchFamily="34" charset="-120"/>
                        </a:rPr>
                        <a:t>អាន: នៅសល់ 1 → OK</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r>
              <a:tr h="412750">
                <a:tc>
                  <a:txBody>
                    <a:bodyPr/>
                    <a:lstStyle/>
                    <a:p>
                      <a:pPr indent="0" marL="0">
                        <a:lnSpc>
                          <a:spcPts val="2100"/>
                        </a:lnSpc>
                        <a:buNone/>
                      </a:pPr>
                      <a:r>
                        <a:rPr lang="en-US" sz="1500" dirty="0">
                          <a:solidFill>
                            <a:srgbClr val="C9D3DC"/>
                          </a:solidFill>
                          <a:latin typeface="Kantumruy Pro" pitchFamily="34" charset="0"/>
                          <a:ea typeface="Kantumruy Pro" pitchFamily="34" charset="-122"/>
                          <a:cs typeface="Kantumruy Pro" pitchFamily="34" charset="-120"/>
                        </a:rPr>
                        <a:t>t3</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indent="0" marL="0">
                        <a:lnSpc>
                          <a:spcPts val="2100"/>
                        </a:lnSpc>
                        <a:buNone/>
                      </a:pPr>
                      <a:r>
                        <a:rPr lang="en-US" sz="1500" dirty="0">
                          <a:solidFill>
                            <a:srgbClr val="F5F3EC"/>
                          </a:solidFill>
                          <a:latin typeface="Kantumruy Pro" pitchFamily="34" charset="0"/>
                          <a:ea typeface="Kantumruy Pro" pitchFamily="34" charset="-122"/>
                          <a:cs typeface="Kantumruy Pro" pitchFamily="34" charset="-120"/>
                        </a:rPr>
                        <a:t>សរសេរ: 0</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indent="0" marL="0">
                        <a:lnSpc>
                          <a:spcPts val="2100"/>
                        </a:lnSpc>
                        <a:buNone/>
                      </a:pPr>
                      <a:r>
                        <a:rPr lang="en-US" sz="1500" dirty="0">
                          <a:solidFill>
                            <a:srgbClr val="C9D3DC"/>
                          </a:solidFill>
                          <a:latin typeface="Kantumruy Pro" pitchFamily="34" charset="0"/>
                          <a:ea typeface="Kantumruy Pro" pitchFamily="34" charset="-122"/>
                          <a:cs typeface="Kantumruy Pro" pitchFamily="34" charset="-120"/>
                        </a:rPr>
                        <a:t>—</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r>
              <a:tr h="412750">
                <a:tc>
                  <a:txBody>
                    <a:bodyPr/>
                    <a:lstStyle/>
                    <a:p>
                      <a:pPr indent="0" marL="0">
                        <a:lnSpc>
                          <a:spcPts val="2100"/>
                        </a:lnSpc>
                        <a:buNone/>
                      </a:pPr>
                      <a:r>
                        <a:rPr lang="en-US" sz="1500" dirty="0">
                          <a:solidFill>
                            <a:srgbClr val="C9D3DC"/>
                          </a:solidFill>
                          <a:latin typeface="Kantumruy Pro" pitchFamily="34" charset="0"/>
                          <a:ea typeface="Kantumruy Pro" pitchFamily="34" charset="-122"/>
                          <a:cs typeface="Kantumruy Pro" pitchFamily="34" charset="-120"/>
                        </a:rPr>
                        <a:t>t4</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indent="0" marL="0">
                        <a:lnSpc>
                          <a:spcPts val="2100"/>
                        </a:lnSpc>
                        <a:buNone/>
                      </a:pPr>
                      <a:r>
                        <a:rPr lang="en-US" sz="1500" dirty="0">
                          <a:solidFill>
                            <a:srgbClr val="C9D3DC"/>
                          </a:solidFill>
                          <a:latin typeface="Kantumruy Pro" pitchFamily="34" charset="0"/>
                          <a:ea typeface="Kantumruy Pro" pitchFamily="34" charset="-122"/>
                          <a:cs typeface="Kantumruy Pro" pitchFamily="34" charset="-120"/>
                        </a:rPr>
                        <a:t>—</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indent="0" marL="0">
                        <a:lnSpc>
                          <a:spcPts val="2100"/>
                        </a:lnSpc>
                        <a:buNone/>
                      </a:pPr>
                      <a:r>
                        <a:rPr lang="en-US" sz="1500" dirty="0">
                          <a:solidFill>
                            <a:srgbClr val="F5F3EC"/>
                          </a:solidFill>
                          <a:latin typeface="Kantumruy Pro" pitchFamily="34" charset="0"/>
                          <a:ea typeface="Kantumruy Pro" pitchFamily="34" charset="-122"/>
                          <a:cs typeface="Kantumruy Pro" pitchFamily="34" charset="-120"/>
                        </a:rPr>
                        <a:t>សរសេរ: 0</a:t>
                      </a:r>
                      <a:endParaRPr lang="en-US" sz="1500" dirty="0">
                        <a:latin typeface="Kantumruy Pro" charset="0"/>
                        <a:ea typeface="Kantumruy Pro" charset="0"/>
                        <a:cs typeface="Kantumruy Pro" charset="0"/>
                      </a:endParaRPr>
                    </a:p>
                  </a:txBody>
                  <a:tcPr marL="66675" marR="66675" marT="66675" marB="6667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r>
            </a:tbl>
          </a:graphicData>
        </a:graphic>
      </p:graphicFrame>
      <p:sp>
        <p:nvSpPr>
          <p:cNvPr id="8" name="Text 5"/>
          <p:cNvSpPr/>
          <p:nvPr/>
        </p:nvSpPr>
        <p:spPr>
          <a:xfrm>
            <a:off x="812800" y="4907211"/>
            <a:ext cx="10883392" cy="406400"/>
          </a:xfrm>
          <a:prstGeom prst="rect">
            <a:avLst/>
          </a:prstGeom>
          <a:noFill/>
          <a:ln/>
        </p:spPr>
        <p:txBody>
          <a:bodyPr wrap="square" lIns="0" tIns="0" rIns="0" bIns="0" rtlCol="0" anchor="t">
            <a:normAutofit/>
          </a:bodyPr>
          <a:lstStyle/>
          <a:p>
            <a:pPr algn="l" indent="0" marL="0">
              <a:lnSpc>
                <a:spcPts val="3000"/>
              </a:lnSpc>
              <a:buNone/>
            </a:pPr>
            <a:r>
              <a:rPr lang="en-US" sz="2000" b="1" dirty="0">
                <a:solidFill>
                  <a:srgbClr val="F0A04B"/>
                </a:solidFill>
                <a:latin typeface="Kantumruy Pro" pitchFamily="34" charset="0"/>
                <a:ea typeface="Kantumruy Pro" pitchFamily="34" charset="-122"/>
                <a:cs typeface="Kantumruy Pro" pitchFamily="34" charset="-120"/>
              </a:rPr>
              <a:t>លទ្ធផល:</a:t>
            </a:r>
            <a:r>
              <a:rPr lang="en-US" sz="2000" dirty="0">
                <a:solidFill>
                  <a:srgbClr val="F0A04B"/>
                </a:solidFill>
                <a:latin typeface="Kantumruy Pro" pitchFamily="34" charset="0"/>
                <a:ea typeface="Kantumruy Pro" pitchFamily="34" charset="-122"/>
                <a:cs typeface="Kantumruy Pro" pitchFamily="34" charset="-120"/>
              </a:rPr>
              <a:t> លក់ ២ សំបុត្រ សម្រាប់ ១ កៅអី — Overbooking!</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7A3C"/>
                </a:solidFill>
                <a:latin typeface="Kantumruy Pro" pitchFamily="34" charset="0"/>
                <a:ea typeface="Kantumruy Pro" pitchFamily="34" charset="-122"/>
                <a:cs typeface="Kantumruy Pro" pitchFamily="34" charset="-120"/>
              </a:rPr>
              <a:t>ការរចនា · ច្បាប់ 1, 2 និង 5</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13202E"/>
                </a:solidFill>
                <a:latin typeface="Kantumruy Pro" pitchFamily="34" charset="0"/>
                <a:ea typeface="Kantumruy Pro" pitchFamily="34" charset="-122"/>
                <a:cs typeface="Kantumruy Pro" pitchFamily="34" charset="-120"/>
              </a:rPr>
              <a:t>ដំណោះស្រាយ: UPDATE តែមួយ ដែល atomic</a:t>
            </a:r>
            <a:endParaRPr lang="en-US" sz="3200" dirty="0"/>
          </a:p>
        </p:txBody>
      </p:sp>
      <p:sp>
        <p:nvSpPr>
          <p:cNvPr id="4" name="Shape 2"/>
          <p:cNvSpPr/>
          <p:nvPr/>
        </p:nvSpPr>
        <p:spPr>
          <a:xfrm>
            <a:off x="812800" y="1935411"/>
            <a:ext cx="5130800" cy="1739900"/>
          </a:xfrm>
          <a:prstGeom prst="roundRect">
            <a:avLst>
              <a:gd name="adj" fmla="val 5839"/>
            </a:avLst>
          </a:prstGeom>
          <a:solidFill>
            <a:srgbClr val="13202E"/>
          </a:solidFill>
          <a:ln/>
        </p:spPr>
      </p:sp>
      <p:sp>
        <p:nvSpPr>
          <p:cNvPr id="5" name="Text 3"/>
          <p:cNvSpPr/>
          <p:nvPr/>
        </p:nvSpPr>
        <p:spPr>
          <a:xfrm>
            <a:off x="1016000" y="2138611"/>
            <a:ext cx="4866132" cy="13589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5F3EC"/>
                </a:solidFill>
                <a:latin typeface="JetBrains Mono" pitchFamily="34" charset="0"/>
                <a:ea typeface="JetBrains Mono" pitchFamily="34" charset="-122"/>
                <a:cs typeface="JetBrains Mono" pitchFamily="34" charset="-120"/>
              </a:rPr>
              <a:t>UPDATE Event e</a:t>
            </a:r>
            <a:endParaRPr lang="en-US" sz="1400" dirty="0"/>
          </a:p>
          <a:p>
            <a:pPr algn="l" indent="0" marL="0">
              <a:lnSpc>
                <a:spcPts val="2100"/>
              </a:lnSpc>
              <a:buNone/>
            </a:pPr>
            <a:r>
              <a:rPr lang="en-US" sz="1400" dirty="0">
                <a:solidFill>
                  <a:srgbClr val="F5F3EC"/>
                </a:solidFill>
                <a:latin typeface="JetBrains Mono" pitchFamily="34" charset="0"/>
                <a:ea typeface="JetBrains Mono" pitchFamily="34" charset="-122"/>
                <a:cs typeface="JetBrains Mono" pitchFamily="34" charset="-120"/>
              </a:rPr>
              <a:t>SET e.seatsLeft = e.seatsLeft - :q</a:t>
            </a:r>
            <a:endParaRPr lang="en-US" sz="1400" dirty="0"/>
          </a:p>
          <a:p>
            <a:pPr algn="l" indent="0" marL="0">
              <a:lnSpc>
                <a:spcPts val="2100"/>
              </a:lnSpc>
              <a:buNone/>
            </a:pPr>
            <a:r>
              <a:rPr lang="en-US" sz="1400" dirty="0">
                <a:solidFill>
                  <a:srgbClr val="F5F3EC"/>
                </a:solidFill>
                <a:latin typeface="JetBrains Mono" pitchFamily="34" charset="0"/>
                <a:ea typeface="JetBrains Mono" pitchFamily="34" charset="-122"/>
                <a:cs typeface="JetBrains Mono" pitchFamily="34" charset="-120"/>
              </a:rPr>
              <a:t>WHERE e.id = :id</a:t>
            </a:r>
            <a:endParaRPr lang="en-US" sz="1400" dirty="0"/>
          </a:p>
          <a:p>
            <a:pPr algn="l" indent="0" marL="0">
              <a:lnSpc>
                <a:spcPts val="2100"/>
              </a:lnSpc>
              <a:buNone/>
            </a:pPr>
            <a:r>
              <a:rPr lang="en-US" sz="1400" dirty="0">
                <a:solidFill>
                  <a:srgbClr val="F0A04B"/>
                </a:solidFill>
                <a:latin typeface="JetBrains Mono" pitchFamily="34" charset="0"/>
                <a:ea typeface="JetBrains Mono" pitchFamily="34" charset="-122"/>
                <a:cs typeface="JetBrains Mono" pitchFamily="34" charset="-120"/>
              </a:rPr>
              <a:t>AND e.seatsLeft &gt;= :q</a:t>
            </a:r>
            <a:endParaRPr lang="en-US" sz="1400" dirty="0"/>
          </a:p>
          <a:p>
            <a:pPr algn="l" indent="0" marL="0">
              <a:lnSpc>
                <a:spcPts val="2100"/>
              </a:lnSpc>
              <a:buNone/>
            </a:pPr>
            <a:r>
              <a:rPr lang="en-US" sz="1400" dirty="0">
                <a:solidFill>
                  <a:srgbClr val="F0A04B"/>
                </a:solidFill>
                <a:latin typeface="JetBrains Mono" pitchFamily="34" charset="0"/>
                <a:ea typeface="JetBrains Mono" pitchFamily="34" charset="-122"/>
                <a:cs typeface="JetBrains Mono" pitchFamily="34" charset="-120"/>
              </a:rPr>
              <a:t>AND e.status = ACTIVE</a:t>
            </a:r>
            <a:endParaRPr lang="en-US" sz="1400" dirty="0"/>
          </a:p>
        </p:txBody>
      </p:sp>
      <p:sp>
        <p:nvSpPr>
          <p:cNvPr id="6" name="Text 4"/>
          <p:cNvSpPr/>
          <p:nvPr/>
        </p:nvSpPr>
        <p:spPr>
          <a:xfrm>
            <a:off x="812800" y="3827711"/>
            <a:ext cx="5284724"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Database lock row — ពិនិត្យ (WHERE) និងសរសេរ (SET) ក្នុងជំហានតែមួយ។ seatsLeft មិនដែលតិចជាង 0។</a:t>
            </a:r>
            <a:endParaRPr lang="en-US" sz="1500" dirty="0"/>
          </a:p>
        </p:txBody>
      </p:sp>
      <p:sp>
        <p:nvSpPr>
          <p:cNvPr id="7" name="Shape 5"/>
          <p:cNvSpPr/>
          <p:nvPr/>
        </p:nvSpPr>
        <p:spPr>
          <a:xfrm>
            <a:off x="6251575" y="1938586"/>
            <a:ext cx="5124450" cy="1104900"/>
          </a:xfrm>
          <a:prstGeom prst="roundRect">
            <a:avLst>
              <a:gd name="adj" fmla="val 8908"/>
            </a:avLst>
          </a:prstGeom>
          <a:solidFill>
            <a:srgbClr val="FFFDF7"/>
          </a:solidFill>
          <a:ln w="6350">
            <a:solidFill>
              <a:srgbClr val="E2DED2"/>
            </a:solidFill>
            <a:prstDash val="solid"/>
          </a:ln>
        </p:spPr>
      </p:sp>
      <p:sp>
        <p:nvSpPr>
          <p:cNvPr id="8" name="Text 6"/>
          <p:cNvSpPr/>
          <p:nvPr/>
        </p:nvSpPr>
        <p:spPr>
          <a:xfrm>
            <a:off x="6457950" y="2144961"/>
            <a:ext cx="4853051"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7A3C"/>
                </a:solidFill>
                <a:latin typeface="Kantumruy Pro" pitchFamily="34" charset="0"/>
                <a:ea typeface="Kantumruy Pro" pitchFamily="34" charset="-122"/>
                <a:cs typeface="Kantumruy Pro" pitchFamily="34" charset="-120"/>
              </a:rPr>
              <a:t>1 row ត្រូវបានកែ</a:t>
            </a:r>
            <a:endParaRPr lang="en-US" sz="2000" dirty="0"/>
          </a:p>
        </p:txBody>
      </p:sp>
      <p:sp>
        <p:nvSpPr>
          <p:cNvPr id="9" name="Text 7"/>
          <p:cNvSpPr/>
          <p:nvPr/>
        </p:nvSpPr>
        <p:spPr>
          <a:xfrm>
            <a:off x="6457950" y="2551361"/>
            <a:ext cx="4853051"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កាត់កៅអីបាន → បន្តកក់ → 201</a:t>
            </a:r>
            <a:endParaRPr lang="en-US" sz="1500" dirty="0"/>
          </a:p>
        </p:txBody>
      </p:sp>
      <p:sp>
        <p:nvSpPr>
          <p:cNvPr id="10" name="Shape 8"/>
          <p:cNvSpPr/>
          <p:nvPr/>
        </p:nvSpPr>
        <p:spPr>
          <a:xfrm>
            <a:off x="6251575" y="3202236"/>
            <a:ext cx="5124450" cy="2038350"/>
          </a:xfrm>
          <a:prstGeom prst="roundRect">
            <a:avLst>
              <a:gd name="adj" fmla="val 4829"/>
            </a:avLst>
          </a:prstGeom>
          <a:solidFill>
            <a:srgbClr val="FFFDF7"/>
          </a:solidFill>
          <a:ln w="6350">
            <a:solidFill>
              <a:srgbClr val="E2DED2"/>
            </a:solidFill>
            <a:prstDash val="solid"/>
          </a:ln>
        </p:spPr>
      </p:sp>
      <p:sp>
        <p:nvSpPr>
          <p:cNvPr id="11" name="Text 9"/>
          <p:cNvSpPr/>
          <p:nvPr/>
        </p:nvSpPr>
        <p:spPr>
          <a:xfrm>
            <a:off x="6457950" y="3408611"/>
            <a:ext cx="4853051"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B5601A"/>
                </a:solidFill>
                <a:latin typeface="Kantumruy Pro" pitchFamily="34" charset="0"/>
                <a:ea typeface="Kantumruy Pro" pitchFamily="34" charset="-122"/>
                <a:cs typeface="Kantumruy Pro" pitchFamily="34" charset="-120"/>
              </a:rPr>
              <a:t>0 row ត្រូវបានកែ</a:t>
            </a:r>
            <a:endParaRPr lang="en-US" sz="2000" dirty="0"/>
          </a:p>
        </p:txBody>
      </p:sp>
      <p:sp>
        <p:nvSpPr>
          <p:cNvPr id="12" name="Text 10"/>
          <p:cNvSpPr/>
          <p:nvPr/>
        </p:nvSpPr>
        <p:spPr>
          <a:xfrm>
            <a:off x="6457950" y="3815011"/>
            <a:ext cx="4853051"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Reload event ដើម្បីដឹងមូលហេតុ:</a:t>
            </a:r>
            <a:endParaRPr lang="en-US" sz="1500" dirty="0"/>
          </a:p>
        </p:txBody>
      </p:sp>
      <p:sp>
        <p:nvSpPr>
          <p:cNvPr id="13" name="Text 11"/>
          <p:cNvSpPr/>
          <p:nvPr/>
        </p:nvSpPr>
        <p:spPr>
          <a:xfrm>
            <a:off x="6457950" y="4176961"/>
            <a:ext cx="4853051"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រកមិនឃើញ → 404</a:t>
            </a:r>
            <a:endParaRPr lang="en-US" sz="1500" dirty="0"/>
          </a:p>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CANCELLED → 409 (ច្បាប់ 5)</a:t>
            </a:r>
            <a:endParaRPr lang="en-US" sz="1500" dirty="0"/>
          </a:p>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កៅអីមិនគ្រប់ → 409 (ច្បាប់ 1)</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7A3C"/>
                </a:solidFill>
                <a:latin typeface="Kantumruy Pro" pitchFamily="34" charset="0"/>
                <a:ea typeface="Kantumruy Pro" pitchFamily="34" charset="-122"/>
                <a:cs typeface="Kantumruy Pro" pitchFamily="34" charset="-120"/>
              </a:rPr>
              <a:t>ការរចនា · ច្បាប់ផ្សេងទៀត</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13202E"/>
                </a:solidFill>
                <a:latin typeface="Kantumruy Pro" pitchFamily="34" charset="0"/>
                <a:ea typeface="Kantumruy Pro" pitchFamily="34" charset="-122"/>
                <a:cs typeface="Kantumruy Pro" pitchFamily="34" charset="-120"/>
              </a:rPr>
              <a:t>ច្បាប់នីមួយៗ នៅក្នុងកូដ</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1930053"/>
        </p:xfrm>
        <a:graphic>
          <a:graphicData uri="http://schemas.openxmlformats.org/drawingml/2006/table">
            <a:tbl>
              <a:tblPr/>
              <a:tblGrid>
                <a:gridCol w="1055370"/>
                <a:gridCol w="3377184"/>
                <a:gridCol w="6121146"/>
              </a:tblGrid>
              <a:tr h="386011">
                <a:tc>
                  <a:txBody>
                    <a:bodyPr/>
                    <a:lstStyle/>
                    <a:p>
                      <a:pPr indent="0" marL="0">
                        <a:lnSpc>
                          <a:spcPts val="1960"/>
                        </a:lnSpc>
                        <a:buNone/>
                      </a:pPr>
                      <a:r>
                        <a:rPr lang="en-US" sz="1400" b="1" dirty="0">
                          <a:solidFill>
                            <a:srgbClr val="13202E"/>
                          </a:solidFill>
                          <a:latin typeface="Kantumruy Pro" pitchFamily="34" charset="0"/>
                          <a:ea typeface="Kantumruy Pro" pitchFamily="34" charset="-122"/>
                          <a:cs typeface="Kantumruy Pro" pitchFamily="34" charset="-120"/>
                        </a:rPr>
                        <a:t>ច្បាប់</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AB7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AB7AD"/>
                      </a:solidFill>
                      <a:prstDash val="solid"/>
                      <a:round/>
                      <a:headEnd type="none" w="med" len="med"/>
                      <a:tailEnd type="none" w="med" len="med"/>
                    </a:lnB>
                    <a:solidFill>
                      <a:srgbClr val="E9E5D9"/>
                    </a:solidFill>
                  </a:tcPr>
                </a:tc>
                <a:tc>
                  <a:txBody>
                    <a:bodyPr/>
                    <a:lstStyle/>
                    <a:p>
                      <a:pPr indent="0" marL="0">
                        <a:lnSpc>
                          <a:spcPts val="1960"/>
                        </a:lnSpc>
                        <a:buNone/>
                      </a:pPr>
                      <a:r>
                        <a:rPr lang="en-US" sz="1400" b="1" dirty="0">
                          <a:solidFill>
                            <a:srgbClr val="13202E"/>
                          </a:solidFill>
                          <a:latin typeface="Kantumruy Pro" pitchFamily="34" charset="0"/>
                          <a:ea typeface="Kantumruy Pro" pitchFamily="34" charset="-122"/>
                          <a:cs typeface="Kantumruy Pro" pitchFamily="34" charset="-120"/>
                        </a:rPr>
                        <a:t>កន្លែង</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BAB7AD"/>
                      </a:solidFill>
                      <a:prstDash val="solid"/>
                      <a:round/>
                      <a:headEnd type="none" w="med" len="med"/>
                      <a:tailEnd type="none" w="med" len="med"/>
                    </a:lnL>
                    <a:lnR w="12700" cap="flat" cmpd="sng" algn="ctr">
                      <a:solidFill>
                        <a:srgbClr val="BAB7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AB7AD"/>
                      </a:solidFill>
                      <a:prstDash val="solid"/>
                      <a:round/>
                      <a:headEnd type="none" w="med" len="med"/>
                      <a:tailEnd type="none" w="med" len="med"/>
                    </a:lnB>
                    <a:solidFill>
                      <a:srgbClr val="E9E5D9"/>
                    </a:solidFill>
                  </a:tcPr>
                </a:tc>
                <a:tc>
                  <a:txBody>
                    <a:bodyPr/>
                    <a:lstStyle/>
                    <a:p>
                      <a:pPr indent="0" marL="0">
                        <a:lnSpc>
                          <a:spcPts val="1960"/>
                        </a:lnSpc>
                        <a:buNone/>
                      </a:pPr>
                      <a:r>
                        <a:rPr lang="en-US" sz="1400" b="1" dirty="0">
                          <a:solidFill>
                            <a:srgbClr val="13202E"/>
                          </a:solidFill>
                          <a:latin typeface="Kantumruy Pro" pitchFamily="34" charset="0"/>
                          <a:ea typeface="Kantumruy Pro" pitchFamily="34" charset="-122"/>
                          <a:cs typeface="Kantumruy Pro" pitchFamily="34" charset="-120"/>
                        </a:rPr>
                        <a:t>វិធី</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BAB7AD"/>
                      </a:solidFill>
                      <a:prstDash val="solid"/>
                      <a:round/>
                      <a:headEnd type="none" w="med" len="med"/>
                      <a:tailEnd type="none" w="med" len="med"/>
                    </a:lnL>
                    <a:lnR w="12700" cap="flat" cmpd="sng" algn="ctr">
                      <a:solidFill>
                        <a:srgbClr val="BAB7AD"/>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AB7AD"/>
                      </a:solidFill>
                      <a:prstDash val="solid"/>
                      <a:round/>
                      <a:headEnd type="none" w="med" len="med"/>
                      <a:tailEnd type="none" w="med" len="med"/>
                    </a:lnB>
                    <a:solidFill>
                      <a:srgbClr val="E9E5D9"/>
                    </a:solidFill>
                  </a:tcPr>
                </a:tc>
              </a:tr>
              <a:tr h="386011">
                <a:tc>
                  <a:txBody>
                    <a:bodyPr/>
                    <a:lstStyle/>
                    <a:p>
                      <a:pPr indent="0" marL="0">
                        <a:lnSpc>
                          <a:spcPts val="1960"/>
                        </a:lnSpc>
                        <a:buNone/>
                      </a:pPr>
                      <a:r>
                        <a:rPr lang="en-US" sz="1400" dirty="0">
                          <a:solidFill>
                            <a:srgbClr val="2E7A3C"/>
                          </a:solidFill>
                          <a:latin typeface="Kantumruy Pro" pitchFamily="34" charset="0"/>
                          <a:ea typeface="Kantumruy Pro" pitchFamily="34" charset="-122"/>
                          <a:cs typeface="Kantumruy Pro" pitchFamily="34" charset="-120"/>
                        </a:rPr>
                        <a:t>R2</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AB7AD"/>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Kantumruy Pro" pitchFamily="34" charset="0"/>
                          <a:ea typeface="Kantumruy Pro" pitchFamily="34" charset="-122"/>
                          <a:cs typeface="Kantumruy Pro" pitchFamily="34" charset="-120"/>
                        </a:rPr>
                        <a:t>BookingService.cancel()</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AB7AD"/>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4A5361"/>
                          </a:solidFill>
                          <a:latin typeface="Kantumruy Pro" pitchFamily="34" charset="0"/>
                          <a:ea typeface="Kantumruy Pro" pitchFamily="34" charset="-122"/>
                          <a:cs typeface="Kantumruy Pro" pitchFamily="34" charset="-120"/>
                        </a:rPr>
                        <a:t>@Transactional + PESSIMISTIC_WRITE lock — បោះបង់ពីរដង → 409</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AB7AD"/>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2E7A3C"/>
                          </a:solidFill>
                          <a:latin typeface="Kantumruy Pro" pitchFamily="34" charset="0"/>
                          <a:ea typeface="Kantumruy Pro" pitchFamily="34" charset="-122"/>
                          <a:cs typeface="Kantumruy Pro" pitchFamily="34" charset="-120"/>
                        </a:rPr>
                        <a:t>R3</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1960"/>
                        </a:lnSpc>
                        <a:buNone/>
                      </a:pPr>
                      <a:r>
                        <a:rPr lang="en-US" sz="1400" dirty="0">
                          <a:solidFill>
                            <a:srgbClr val="13202E"/>
                          </a:solidFill>
                          <a:latin typeface="Kantumruy Pro" pitchFamily="34" charset="0"/>
                          <a:ea typeface="Kantumruy Pro" pitchFamily="34" charset="-122"/>
                          <a:cs typeface="Kantumruy Pro" pitchFamily="34" charset="-120"/>
                        </a:rPr>
                        <a:t>CreateBookingRequest</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1960"/>
                        </a:lnSpc>
                        <a:buNone/>
                      </a:pPr>
                      <a:r>
                        <a:rPr lang="en-US" sz="1400" dirty="0">
                          <a:solidFill>
                            <a:srgbClr val="4A5361"/>
                          </a:solidFill>
                          <a:latin typeface="Kantumruy Pro" pitchFamily="34" charset="0"/>
                          <a:ea typeface="Kantumruy Pro" pitchFamily="34" charset="-122"/>
                          <a:cs typeface="Kantumruy Pro" pitchFamily="34" charset="-120"/>
                        </a:rPr>
                        <a:t>@NotNull @Min(1) @Max(4) + @Valid → 400</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r h="386011">
                <a:tc>
                  <a:txBody>
                    <a:bodyPr/>
                    <a:lstStyle/>
                    <a:p>
                      <a:pPr indent="0" marL="0">
                        <a:lnSpc>
                          <a:spcPts val="1960"/>
                        </a:lnSpc>
                        <a:buNone/>
                      </a:pPr>
                      <a:r>
                        <a:rPr lang="en-US" sz="1400" dirty="0">
                          <a:solidFill>
                            <a:srgbClr val="2E7A3C"/>
                          </a:solidFill>
                          <a:latin typeface="Kantumruy Pro" pitchFamily="34" charset="0"/>
                          <a:ea typeface="Kantumruy Pro" pitchFamily="34" charset="-122"/>
                          <a:cs typeface="Kantumruy Pro" pitchFamily="34" charset="-120"/>
                        </a:rPr>
                        <a:t>R4</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Kantumruy Pro" pitchFamily="34" charset="0"/>
                          <a:ea typeface="Kantumruy Pro" pitchFamily="34" charset="-122"/>
                          <a:cs typeface="Kantumruy Pro" pitchFamily="34" charset="-120"/>
                        </a:rPr>
                        <a:t>BookingService.create()</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4A5361"/>
                          </a:solidFill>
                          <a:latin typeface="Kantumruy Pro" pitchFamily="34" charset="0"/>
                          <a:ea typeface="Kantumruy Pro" pitchFamily="34" charset="-122"/>
                          <a:cs typeface="Kantumruy Pro" pitchFamily="34" charset="-120"/>
                        </a:rPr>
                        <a:t>DTO គ្មាន field price។ តម្លៃ = price × quantity (BigDecimal)</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6011">
                <a:tc>
                  <a:txBody>
                    <a:bodyPr/>
                    <a:lstStyle/>
                    <a:p>
                      <a:pPr indent="0" marL="0">
                        <a:lnSpc>
                          <a:spcPts val="1960"/>
                        </a:lnSpc>
                        <a:buNone/>
                      </a:pPr>
                      <a:r>
                        <a:rPr lang="en-US" sz="1400" dirty="0">
                          <a:solidFill>
                            <a:srgbClr val="2E7A3C"/>
                          </a:solidFill>
                          <a:latin typeface="Kantumruy Pro" pitchFamily="34" charset="0"/>
                          <a:ea typeface="Kantumruy Pro" pitchFamily="34" charset="-122"/>
                          <a:cs typeface="Kantumruy Pro" pitchFamily="34" charset="-120"/>
                        </a:rPr>
                        <a:t>R6</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1960"/>
                        </a:lnSpc>
                        <a:buNone/>
                      </a:pPr>
                      <a:r>
                        <a:rPr lang="en-US" sz="1400" dirty="0">
                          <a:solidFill>
                            <a:srgbClr val="13202E"/>
                          </a:solidFill>
                          <a:latin typeface="Kantumruy Pro" pitchFamily="34" charset="0"/>
                          <a:ea typeface="Kantumruy Pro" pitchFamily="34" charset="-122"/>
                          <a:cs typeface="Kantumruy Pro" pitchFamily="34" charset="-120"/>
                        </a:rPr>
                        <a:t>BookingService.checkOwner()</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indent="0" marL="0">
                        <a:lnSpc>
                          <a:spcPts val="1960"/>
                        </a:lnSpc>
                        <a:buNone/>
                      </a:pPr>
                      <a:r>
                        <a:rPr lang="en-US" sz="1400" dirty="0">
                          <a:solidFill>
                            <a:srgbClr val="4A5361"/>
                          </a:solidFill>
                          <a:latin typeface="Kantumruy Pro" pitchFamily="34" charset="0"/>
                          <a:ea typeface="Kantumruy Pro" pitchFamily="34" charset="-122"/>
                          <a:cs typeface="Kantumruy Pro" pitchFamily="34" charset="-120"/>
                        </a:rPr>
                        <a:t>username មកពី login មិនមែនពី request body → 403</a:t>
                      </a:r>
                      <a:endParaRPr lang="en-US" sz="1400" dirty="0">
                        <a:latin typeface="Kantumruy Pro" charset="0"/>
                        <a:ea typeface="Kantumruy Pro" charset="0"/>
                        <a:cs typeface="Kantumruy Pro" charset="0"/>
                      </a:endParaRPr>
                    </a:p>
                  </a:txBody>
                  <a:tcPr marL="62230" marR="62230" marT="62230" marB="62230" anchor="t">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7A3C"/>
                </a:solidFill>
                <a:latin typeface="Kantumruy Pro" pitchFamily="34" charset="0"/>
                <a:ea typeface="Kantumruy Pro" pitchFamily="34" charset="-122"/>
                <a:cs typeface="Kantumruy Pro" pitchFamily="34" charset="-120"/>
              </a:rPr>
              <a:t>ភស្តុតាង</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13202E"/>
                </a:solidFill>
                <a:latin typeface="Kantumruy Pro" pitchFamily="34" charset="0"/>
                <a:ea typeface="Kantumruy Pro" pitchFamily="34" charset="-122"/>
                <a:cs typeface="Kantumruy Pro" pitchFamily="34" charset="-120"/>
              </a:rPr>
              <a:t>Error និង Security</a:t>
            </a:r>
            <a:endParaRPr lang="en-US" sz="3200" dirty="0"/>
          </a:p>
        </p:txBody>
      </p:sp>
      <p:sp>
        <p:nvSpPr>
          <p:cNvPr id="4" name="Text 2"/>
          <p:cNvSpPr/>
          <p:nvPr/>
        </p:nvSpPr>
        <p:spPr>
          <a:xfrm>
            <a:off x="812800" y="1935411"/>
            <a:ext cx="5284724"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3202E"/>
                </a:solidFill>
                <a:latin typeface="Kantumruy Pro" pitchFamily="34" charset="0"/>
                <a:ea typeface="Kantumruy Pro" pitchFamily="34" charset="-122"/>
                <a:cs typeface="Kantumruy Pro" pitchFamily="34" charset="-120"/>
              </a:rPr>
              <a:t>Error ជា JSON ស្តង់ដារ</a:t>
            </a:r>
            <a:endParaRPr lang="en-US" sz="2000" dirty="0"/>
          </a:p>
        </p:txBody>
      </p:sp>
      <p:sp>
        <p:nvSpPr>
          <p:cNvPr id="5" name="Text 3"/>
          <p:cNvSpPr/>
          <p:nvPr/>
        </p:nvSpPr>
        <p:spPr>
          <a:xfrm>
            <a:off x="812800" y="2418011"/>
            <a:ext cx="5284724"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RFC 7807 ProblemDetail — ទម្រង់ដូចគ្នា គ្រប់ error</a:t>
            </a:r>
            <a:endParaRPr lang="en-US" sz="1500" dirty="0"/>
          </a:p>
        </p:txBody>
      </p:sp>
      <p:sp>
        <p:nvSpPr>
          <p:cNvPr id="6" name="Shape 4"/>
          <p:cNvSpPr/>
          <p:nvPr/>
        </p:nvSpPr>
        <p:spPr>
          <a:xfrm>
            <a:off x="812800" y="2856161"/>
            <a:ext cx="5130800" cy="1739900"/>
          </a:xfrm>
          <a:prstGeom prst="roundRect">
            <a:avLst>
              <a:gd name="adj" fmla="val 5839"/>
            </a:avLst>
          </a:prstGeom>
          <a:solidFill>
            <a:srgbClr val="13202E"/>
          </a:solidFill>
          <a:ln/>
        </p:spPr>
      </p:sp>
      <p:sp>
        <p:nvSpPr>
          <p:cNvPr id="7" name="Text 5"/>
          <p:cNvSpPr/>
          <p:nvPr/>
        </p:nvSpPr>
        <p:spPr>
          <a:xfrm>
            <a:off x="1016000" y="3059361"/>
            <a:ext cx="4866132" cy="13589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5F3EC"/>
                </a:solidFill>
                <a:latin typeface="JetBrains Mono" pitchFamily="34" charset="0"/>
                <a:ea typeface="JetBrains Mono" pitchFamily="34" charset="-122"/>
                <a:cs typeface="JetBrains Mono" pitchFamily="34" charset="-120"/>
              </a:rPr>
              <a:t>{</a:t>
            </a:r>
            <a:endParaRPr lang="en-US" sz="1400" dirty="0"/>
          </a:p>
          <a:p>
            <a:pPr algn="l" indent="0" marL="0">
              <a:lnSpc>
                <a:spcPts val="2100"/>
              </a:lnSpc>
              <a:buNone/>
            </a:pPr>
            <a:r>
              <a:rPr lang="en-US" sz="1400" dirty="0">
                <a:solidFill>
                  <a:srgbClr val="F5F3EC"/>
                </a:solidFill>
                <a:latin typeface="JetBrains Mono" pitchFamily="34" charset="0"/>
                <a:ea typeface="JetBrains Mono" pitchFamily="34" charset="-122"/>
                <a:cs typeface="JetBrains Mono" pitchFamily="34" charset="-120"/>
              </a:rPr>
              <a:t>  "status": 409,</a:t>
            </a:r>
            <a:endParaRPr lang="en-US" sz="1400" dirty="0"/>
          </a:p>
          <a:p>
            <a:pPr algn="l" indent="0" marL="0">
              <a:lnSpc>
                <a:spcPts val="2100"/>
              </a:lnSpc>
              <a:buNone/>
            </a:pPr>
            <a:r>
              <a:rPr lang="en-US" sz="1400" dirty="0">
                <a:solidFill>
                  <a:srgbClr val="F5F3EC"/>
                </a:solidFill>
                <a:latin typeface="JetBrains Mono" pitchFamily="34" charset="0"/>
                <a:ea typeface="JetBrains Mono" pitchFamily="34" charset="-122"/>
                <a:cs typeface="JetBrains Mono" pitchFamily="34" charset="-120"/>
              </a:rPr>
              <a:t>  "title": "Conflict",</a:t>
            </a:r>
            <a:endParaRPr lang="en-US" sz="1400" dirty="0"/>
          </a:p>
          <a:p>
            <a:pPr algn="l" indent="0" marL="0">
              <a:lnSpc>
                <a:spcPts val="2100"/>
              </a:lnSpc>
              <a:buNone/>
            </a:pPr>
            <a:r>
              <a:rPr lang="en-US" sz="1400" dirty="0">
                <a:solidFill>
                  <a:srgbClr val="F5F3EC"/>
                </a:solidFill>
                <a:latin typeface="JetBrains Mono" pitchFamily="34" charset="0"/>
                <a:ea typeface="JetBrains Mono" pitchFamily="34" charset="-122"/>
                <a:cs typeface="JetBrains Mono" pitchFamily="34" charset="-120"/>
              </a:rPr>
              <a:t>  "detail": "Event 2 is cancelled"</a:t>
            </a:r>
            <a:endParaRPr lang="en-US" sz="1400" dirty="0"/>
          </a:p>
          <a:p>
            <a:pPr algn="l" indent="0" marL="0">
              <a:lnSpc>
                <a:spcPts val="2100"/>
              </a:lnSpc>
              <a:buNone/>
            </a:pPr>
            <a:r>
              <a:rPr lang="en-US" sz="1400" dirty="0">
                <a:solidFill>
                  <a:srgbClr val="F5F3EC"/>
                </a:solidFill>
                <a:latin typeface="JetBrains Mono" pitchFamily="34" charset="0"/>
                <a:ea typeface="JetBrains Mono" pitchFamily="34" charset="-122"/>
                <a:cs typeface="JetBrains Mono" pitchFamily="34" charset="-120"/>
              </a:rPr>
              <a:t>}</a:t>
            </a:r>
            <a:endParaRPr lang="en-US" sz="1400" dirty="0"/>
          </a:p>
        </p:txBody>
      </p:sp>
      <p:sp>
        <p:nvSpPr>
          <p:cNvPr id="8" name="Text 6"/>
          <p:cNvSpPr/>
          <p:nvPr/>
        </p:nvSpPr>
        <p:spPr>
          <a:xfrm>
            <a:off x="6248400" y="1935411"/>
            <a:ext cx="5284724"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3202E"/>
                </a:solidFill>
                <a:latin typeface="Kantumruy Pro" pitchFamily="34" charset="0"/>
                <a:ea typeface="Kantumruy Pro" pitchFamily="34" charset="-122"/>
                <a:cs typeface="Kantumruy Pro" pitchFamily="34" charset="-120"/>
              </a:rPr>
              <a:t>Security ពីរស្រទាប់</a:t>
            </a:r>
            <a:endParaRPr lang="en-US" sz="2000" dirty="0"/>
          </a:p>
        </p:txBody>
      </p:sp>
      <p:sp>
        <p:nvSpPr>
          <p:cNvPr id="9" name="Shape 7"/>
          <p:cNvSpPr/>
          <p:nvPr/>
        </p:nvSpPr>
        <p:spPr>
          <a:xfrm>
            <a:off x="6251575" y="2421186"/>
            <a:ext cx="5124450" cy="1003300"/>
          </a:xfrm>
          <a:prstGeom prst="roundRect">
            <a:avLst>
              <a:gd name="adj" fmla="val 9810"/>
            </a:avLst>
          </a:prstGeom>
          <a:solidFill>
            <a:srgbClr val="FFFDF7"/>
          </a:solidFill>
          <a:ln w="6350">
            <a:solidFill>
              <a:srgbClr val="E2DED2"/>
            </a:solidFill>
            <a:prstDash val="solid"/>
          </a:ln>
        </p:spPr>
      </p:sp>
      <p:sp>
        <p:nvSpPr>
          <p:cNvPr id="10" name="Text 8"/>
          <p:cNvSpPr/>
          <p:nvPr/>
        </p:nvSpPr>
        <p:spPr>
          <a:xfrm>
            <a:off x="6457950" y="2627561"/>
            <a:ext cx="4853051"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3202E"/>
                </a:solidFill>
                <a:latin typeface="Kantumruy Pro" pitchFamily="34" charset="0"/>
                <a:ea typeface="Kantumruy Pro" pitchFamily="34" charset="-122"/>
                <a:cs typeface="Kantumruy Pro" pitchFamily="34" charset="-120"/>
              </a:rPr>
              <a:t>Spring Security</a:t>
            </a:r>
            <a:r>
              <a:rPr lang="en-US" sz="1500" dirty="0">
                <a:solidFill>
                  <a:srgbClr val="13202E"/>
                </a:solidFill>
                <a:latin typeface="Kantumruy Pro" pitchFamily="34" charset="0"/>
                <a:ea typeface="Kantumruy Pro" pitchFamily="34" charset="-122"/>
                <a:cs typeface="Kantumruy Pro" pitchFamily="34" charset="-120"/>
              </a:rPr>
              <a:t> — role ខុស → 403</a:t>
            </a:r>
            <a:endParaRPr lang="en-US" sz="1500" dirty="0"/>
          </a:p>
        </p:txBody>
      </p:sp>
      <p:sp>
        <p:nvSpPr>
          <p:cNvPr id="11" name="Text 9"/>
          <p:cNvSpPr/>
          <p:nvPr/>
        </p:nvSpPr>
        <p:spPr>
          <a:xfrm>
            <a:off x="6457950" y="2989511"/>
            <a:ext cx="485305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361"/>
                </a:solidFill>
                <a:latin typeface="Kantumruy Pro" pitchFamily="34" charset="0"/>
                <a:ea typeface="Kantumruy Pro" pitchFamily="34" charset="-122"/>
                <a:cs typeface="Kantumruy Pro" pitchFamily="34" charset="-120"/>
              </a:rPr>
              <a:t>ឧ. alice ព្យាយាមបោះបង់ event</a:t>
            </a:r>
            <a:endParaRPr lang="en-US" sz="1200" dirty="0"/>
          </a:p>
        </p:txBody>
      </p:sp>
      <p:sp>
        <p:nvSpPr>
          <p:cNvPr id="12" name="Shape 10"/>
          <p:cNvSpPr/>
          <p:nvPr/>
        </p:nvSpPr>
        <p:spPr>
          <a:xfrm>
            <a:off x="6251575" y="3583236"/>
            <a:ext cx="5124450" cy="1003300"/>
          </a:xfrm>
          <a:prstGeom prst="roundRect">
            <a:avLst>
              <a:gd name="adj" fmla="val 9810"/>
            </a:avLst>
          </a:prstGeom>
          <a:solidFill>
            <a:srgbClr val="FFFDF7"/>
          </a:solidFill>
          <a:ln w="6350">
            <a:solidFill>
              <a:srgbClr val="E2DED2"/>
            </a:solidFill>
            <a:prstDash val="solid"/>
          </a:ln>
        </p:spPr>
      </p:sp>
      <p:sp>
        <p:nvSpPr>
          <p:cNvPr id="13" name="Text 11"/>
          <p:cNvSpPr/>
          <p:nvPr/>
        </p:nvSpPr>
        <p:spPr>
          <a:xfrm>
            <a:off x="6457950" y="3789611"/>
            <a:ext cx="4853051"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3202E"/>
                </a:solidFill>
                <a:latin typeface="Kantumruy Pro" pitchFamily="34" charset="0"/>
                <a:ea typeface="Kantumruy Pro" pitchFamily="34" charset="-122"/>
                <a:cs typeface="Kantumruy Pro" pitchFamily="34" charset="-120"/>
              </a:rPr>
              <a:t>Service</a:t>
            </a:r>
            <a:r>
              <a:rPr lang="en-US" sz="1500" dirty="0">
                <a:solidFill>
                  <a:srgbClr val="13202E"/>
                </a:solidFill>
                <a:latin typeface="Kantumruy Pro" pitchFamily="34" charset="0"/>
                <a:ea typeface="Kantumruy Pro" pitchFamily="34" charset="-122"/>
                <a:cs typeface="Kantumruy Pro" pitchFamily="34" charset="-120"/>
              </a:rPr>
              <a:t> — មិនមែនម្ចាស់ → 403</a:t>
            </a:r>
            <a:endParaRPr lang="en-US" sz="1500" dirty="0"/>
          </a:p>
        </p:txBody>
      </p:sp>
      <p:sp>
        <p:nvSpPr>
          <p:cNvPr id="14" name="Text 12"/>
          <p:cNvSpPr/>
          <p:nvPr/>
        </p:nvSpPr>
        <p:spPr>
          <a:xfrm>
            <a:off x="6457950" y="4151561"/>
            <a:ext cx="485305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361"/>
                </a:solidFill>
                <a:latin typeface="Kantumruy Pro" pitchFamily="34" charset="0"/>
                <a:ea typeface="Kantumruy Pro" pitchFamily="34" charset="-122"/>
                <a:cs typeface="Kantumruy Pro" pitchFamily="34" charset="-120"/>
              </a:rPr>
              <a:t>ឧ. bob មើល booking របស់ alice</a:t>
            </a:r>
            <a:endParaRPr lang="en-US" sz="1200" dirty="0"/>
          </a:p>
        </p:txBody>
      </p:sp>
      <p:sp>
        <p:nvSpPr>
          <p:cNvPr id="15" name="Text 13"/>
          <p:cNvSpPr/>
          <p:nvPr/>
        </p:nvSpPr>
        <p:spPr>
          <a:xfrm>
            <a:off x="6248400" y="4742111"/>
            <a:ext cx="528472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361"/>
                </a:solidFill>
                <a:latin typeface="Kantumruy Pro" pitchFamily="34" charset="0"/>
                <a:ea typeface="Kantumruy Pro" pitchFamily="34" charset="-122"/>
                <a:cs typeface="Kantumruy Pro" pitchFamily="34" charset="-120"/>
              </a:rPr>
              <a:t>alice, bob = CUSTOMER · admin = ADMIN · គ្មាន login → 401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7A3C"/>
                </a:solidFill>
                <a:latin typeface="Kantumruy Pro" pitchFamily="34" charset="0"/>
                <a:ea typeface="Kantumruy Pro" pitchFamily="34" charset="-122"/>
                <a:cs typeface="Kantumruy Pro" pitchFamily="34" charset="-120"/>
              </a:rPr>
              <a:t>ភស្តុតាង</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13202E"/>
                </a:solidFill>
                <a:latin typeface="Kantumruy Pro" pitchFamily="34" charset="0"/>
                <a:ea typeface="Kantumruy Pro" pitchFamily="34" charset="-122"/>
                <a:cs typeface="Kantumruy Pro" pitchFamily="34" charset="-120"/>
              </a:rPr>
              <a:t>Tests បញ្ជាក់ថា ច្បាប់ដំណើរការ</a:t>
            </a:r>
            <a:endParaRPr lang="en-US" sz="3200" dirty="0"/>
          </a:p>
        </p:txBody>
      </p:sp>
      <p:sp>
        <p:nvSpPr>
          <p:cNvPr id="4" name="Shape 2"/>
          <p:cNvSpPr/>
          <p:nvPr/>
        </p:nvSpPr>
        <p:spPr>
          <a:xfrm>
            <a:off x="815975" y="1938586"/>
            <a:ext cx="3380284" cy="1612900"/>
          </a:xfrm>
          <a:prstGeom prst="roundRect">
            <a:avLst>
              <a:gd name="adj" fmla="val 6102"/>
            </a:avLst>
          </a:prstGeom>
          <a:solidFill>
            <a:srgbClr val="FFFDF7"/>
          </a:solidFill>
          <a:ln w="6350">
            <a:solidFill>
              <a:srgbClr val="E2DED2"/>
            </a:solidFill>
            <a:prstDash val="solid"/>
          </a:ln>
        </p:spPr>
      </p:sp>
      <p:sp>
        <p:nvSpPr>
          <p:cNvPr id="5" name="Text 3"/>
          <p:cNvSpPr/>
          <p:nvPr/>
        </p:nvSpPr>
        <p:spPr>
          <a:xfrm>
            <a:off x="1022350" y="2144961"/>
            <a:ext cx="3056560"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E7A3C"/>
                </a:solidFill>
                <a:latin typeface="Kantumruy Pro" pitchFamily="34" charset="0"/>
                <a:ea typeface="Kantumruy Pro" pitchFamily="34" charset="-122"/>
                <a:cs typeface="Kantumruy Pro" pitchFamily="34" charset="-120"/>
              </a:rPr>
              <a:t>20</a:t>
            </a:r>
            <a:endParaRPr lang="en-US" sz="6000" dirty="0"/>
          </a:p>
        </p:txBody>
      </p:sp>
      <p:sp>
        <p:nvSpPr>
          <p:cNvPr id="6" name="Text 4"/>
          <p:cNvSpPr/>
          <p:nvPr/>
        </p:nvSpPr>
        <p:spPr>
          <a:xfrm>
            <a:off x="1022350" y="3059361"/>
            <a:ext cx="3056560"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tests ទាំងអស់ ជាប់ — 0 fail</a:t>
            </a:r>
            <a:endParaRPr lang="en-US" sz="1500" dirty="0"/>
          </a:p>
        </p:txBody>
      </p:sp>
      <p:sp>
        <p:nvSpPr>
          <p:cNvPr id="7" name="Shape 5"/>
          <p:cNvSpPr/>
          <p:nvPr/>
        </p:nvSpPr>
        <p:spPr>
          <a:xfrm>
            <a:off x="4405809" y="1938586"/>
            <a:ext cx="3380333" cy="1612900"/>
          </a:xfrm>
          <a:prstGeom prst="roundRect">
            <a:avLst>
              <a:gd name="adj" fmla="val 6102"/>
            </a:avLst>
          </a:prstGeom>
          <a:solidFill>
            <a:srgbClr val="FFFDF7"/>
          </a:solidFill>
          <a:ln w="6350">
            <a:solidFill>
              <a:srgbClr val="E2DED2"/>
            </a:solidFill>
            <a:prstDash val="solid"/>
          </a:ln>
        </p:spPr>
      </p:sp>
      <p:sp>
        <p:nvSpPr>
          <p:cNvPr id="8" name="Text 6"/>
          <p:cNvSpPr/>
          <p:nvPr/>
        </p:nvSpPr>
        <p:spPr>
          <a:xfrm>
            <a:off x="4612184" y="2144961"/>
            <a:ext cx="305661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E7A3C"/>
                </a:solidFill>
                <a:latin typeface="Kantumruy Pro" pitchFamily="34" charset="0"/>
                <a:ea typeface="Kantumruy Pro" pitchFamily="34" charset="-122"/>
                <a:cs typeface="Kantumruy Pro" pitchFamily="34" charset="-120"/>
              </a:rPr>
              <a:t>19</a:t>
            </a:r>
            <a:endParaRPr lang="en-US" sz="6000" dirty="0"/>
          </a:p>
        </p:txBody>
      </p:sp>
      <p:sp>
        <p:nvSpPr>
          <p:cNvPr id="9" name="Text 7"/>
          <p:cNvSpPr/>
          <p:nvPr/>
        </p:nvSpPr>
        <p:spPr>
          <a:xfrm>
            <a:off x="4612184" y="3059361"/>
            <a:ext cx="3056611"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scenario tests ជាមួយ MockMvc</a:t>
            </a:r>
            <a:endParaRPr lang="en-US" sz="1500" dirty="0"/>
          </a:p>
        </p:txBody>
      </p:sp>
      <p:sp>
        <p:nvSpPr>
          <p:cNvPr id="10" name="Shape 8"/>
          <p:cNvSpPr/>
          <p:nvPr/>
        </p:nvSpPr>
        <p:spPr>
          <a:xfrm>
            <a:off x="7995692" y="1938586"/>
            <a:ext cx="3380333" cy="1612900"/>
          </a:xfrm>
          <a:prstGeom prst="roundRect">
            <a:avLst>
              <a:gd name="adj" fmla="val 6102"/>
            </a:avLst>
          </a:prstGeom>
          <a:solidFill>
            <a:srgbClr val="FFFDF7"/>
          </a:solidFill>
          <a:ln w="6350">
            <a:solidFill>
              <a:srgbClr val="E2DED2"/>
            </a:solidFill>
            <a:prstDash val="solid"/>
          </a:ln>
        </p:spPr>
      </p:sp>
      <p:sp>
        <p:nvSpPr>
          <p:cNvPr id="11" name="Text 9"/>
          <p:cNvSpPr/>
          <p:nvPr/>
        </p:nvSpPr>
        <p:spPr>
          <a:xfrm>
            <a:off x="8202067" y="2144961"/>
            <a:ext cx="305661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2E7A3C"/>
                </a:solidFill>
                <a:latin typeface="Kantumruy Pro" pitchFamily="34" charset="0"/>
                <a:ea typeface="Kantumruy Pro" pitchFamily="34" charset="-122"/>
                <a:cs typeface="Kantumruy Pro" pitchFamily="34" charset="-120"/>
              </a:rPr>
              <a:t>10</a:t>
            </a:r>
            <a:endParaRPr lang="en-US" sz="6000" dirty="0"/>
          </a:p>
        </p:txBody>
      </p:sp>
      <p:sp>
        <p:nvSpPr>
          <p:cNvPr id="12" name="Text 10"/>
          <p:cNvSpPr/>
          <p:nvPr/>
        </p:nvSpPr>
        <p:spPr>
          <a:xfrm>
            <a:off x="8202067" y="3059361"/>
            <a:ext cx="3056611"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threads កក់កៅអីចុងក្រោយ ព្រមគ្នា</a:t>
            </a:r>
            <a:endParaRPr lang="en-US" sz="1500" dirty="0"/>
          </a:p>
        </p:txBody>
      </p:sp>
      <p:sp>
        <p:nvSpPr>
          <p:cNvPr id="13" name="Shape 11"/>
          <p:cNvSpPr/>
          <p:nvPr/>
        </p:nvSpPr>
        <p:spPr>
          <a:xfrm>
            <a:off x="812800" y="3859461"/>
            <a:ext cx="10566400" cy="590550"/>
          </a:xfrm>
          <a:prstGeom prst="roundRect">
            <a:avLst>
              <a:gd name="adj" fmla="val 17204"/>
            </a:avLst>
          </a:prstGeom>
          <a:solidFill>
            <a:srgbClr val="13202E"/>
          </a:solidFill>
          <a:ln/>
        </p:spPr>
      </p:sp>
      <p:sp>
        <p:nvSpPr>
          <p:cNvPr id="14" name="Text 12"/>
          <p:cNvSpPr/>
          <p:nvPr/>
        </p:nvSpPr>
        <p:spPr>
          <a:xfrm>
            <a:off x="1016000" y="4011861"/>
            <a:ext cx="1628924"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C9D3DC"/>
                </a:solidFill>
                <a:latin typeface="Kantumruy Pro" pitchFamily="34" charset="0"/>
                <a:ea typeface="Kantumruy Pro" pitchFamily="34" charset="-122"/>
                <a:cs typeface="Kantumruy Pro" pitchFamily="34" charset="-120"/>
              </a:rPr>
              <a:t>Concurrency test:</a:t>
            </a:r>
            <a:endParaRPr lang="en-US" sz="1500" dirty="0"/>
          </a:p>
        </p:txBody>
      </p:sp>
      <p:sp>
        <p:nvSpPr>
          <p:cNvPr id="15" name="Text 13"/>
          <p:cNvSpPr/>
          <p:nvPr/>
        </p:nvSpPr>
        <p:spPr>
          <a:xfrm>
            <a:off x="2797324" y="4011861"/>
            <a:ext cx="3885057"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0A04B"/>
                </a:solidFill>
                <a:latin typeface="JetBrains Mono" pitchFamily="34" charset="0"/>
                <a:ea typeface="JetBrains Mono" pitchFamily="34" charset="-122"/>
                <a:cs typeface="JetBrains Mono" pitchFamily="34" charset="-120"/>
              </a:rPr>
              <a:t>1 × 201 · 9 × 409 · seatsLeft = 0</a:t>
            </a:r>
            <a:endParaRPr lang="en-US" sz="1500" dirty="0"/>
          </a:p>
        </p:txBody>
      </p:sp>
      <p:sp>
        <p:nvSpPr>
          <p:cNvPr id="16" name="Text 14"/>
          <p:cNvSpPr/>
          <p:nvPr/>
        </p:nvSpPr>
        <p:spPr>
          <a:xfrm>
            <a:off x="812800" y="4754811"/>
            <a:ext cx="1088339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361"/>
                </a:solidFill>
                <a:latin typeface="Kantumruy Pro" pitchFamily="34" charset="0"/>
                <a:ea typeface="Kantumruy Pro" pitchFamily="34" charset="-122"/>
                <a:cs typeface="Kantumruy Pro" pitchFamily="34" charset="-120"/>
              </a:rPr>
              <a:t>រត់ច្រើនដង — ជាប់រាល់ដង។ seatsLeft មិនដែលក្លាយជា −1។</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7A3C"/>
                </a:solidFill>
                <a:latin typeface="Kantumruy Pro" pitchFamily="34" charset="0"/>
                <a:ea typeface="Kantumruy Pro" pitchFamily="34" charset="-122"/>
                <a:cs typeface="Kantumruy Pro" pitchFamily="34" charset="-120"/>
              </a:rPr>
              <a:t>AI WORKFLOW · CLAUDE CODE</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13202E"/>
                </a:solidFill>
                <a:latin typeface="Kantumruy Pro" pitchFamily="34" charset="0"/>
                <a:ea typeface="Kantumruy Pro" pitchFamily="34" charset="-122"/>
                <a:cs typeface="Kantumruy Pro" pitchFamily="34" charset="-120"/>
              </a:rPr>
              <a:t>Spec មុន — បន្ទាប់មក កូដ</a:t>
            </a:r>
            <a:endParaRPr lang="en-US" sz="3200" dirty="0"/>
          </a:p>
        </p:txBody>
      </p:sp>
      <p:sp>
        <p:nvSpPr>
          <p:cNvPr id="4" name="Shape 2"/>
          <p:cNvSpPr/>
          <p:nvPr/>
        </p:nvSpPr>
        <p:spPr>
          <a:xfrm>
            <a:off x="812800" y="2355106"/>
            <a:ext cx="10566400" cy="0"/>
          </a:xfrm>
          <a:prstGeom prst="line">
            <a:avLst/>
          </a:prstGeom>
          <a:noFill/>
          <a:ln w="6350">
            <a:solidFill>
              <a:srgbClr val="E2DED2"/>
            </a:solidFill>
            <a:prstDash val="solid"/>
          </a:ln>
        </p:spPr>
      </p:sp>
      <p:sp>
        <p:nvSpPr>
          <p:cNvPr id="5" name="Text 3"/>
          <p:cNvSpPr/>
          <p:nvPr/>
        </p:nvSpPr>
        <p:spPr>
          <a:xfrm>
            <a:off x="812800" y="2011611"/>
            <a:ext cx="35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1</a:t>
            </a:r>
            <a:endParaRPr lang="en-US" sz="1200" dirty="0"/>
          </a:p>
        </p:txBody>
      </p:sp>
      <p:sp>
        <p:nvSpPr>
          <p:cNvPr id="6" name="Text 4"/>
          <p:cNvSpPr/>
          <p:nvPr/>
        </p:nvSpPr>
        <p:spPr>
          <a:xfrm>
            <a:off x="1270000" y="1975396"/>
            <a:ext cx="9900631"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3202E"/>
                </a:solidFill>
                <a:latin typeface="Kantumruy Pro" pitchFamily="34" charset="0"/>
                <a:ea typeface="Kantumruy Pro" pitchFamily="34" charset="-122"/>
                <a:cs typeface="Kantumruy Pro" pitchFamily="34" charset="-120"/>
              </a:rPr>
              <a:t>ផ្តល់ homework និង ច្បាប់ទាំង ៦ ទៅ Claude Code</a:t>
            </a:r>
            <a:endParaRPr lang="en-US" sz="1500" dirty="0"/>
          </a:p>
        </p:txBody>
      </p:sp>
      <p:sp>
        <p:nvSpPr>
          <p:cNvPr id="7" name="Shape 5"/>
          <p:cNvSpPr/>
          <p:nvPr/>
        </p:nvSpPr>
        <p:spPr>
          <a:xfrm>
            <a:off x="11034663" y="1960811"/>
            <a:ext cx="344537" cy="314920"/>
          </a:xfrm>
          <a:prstGeom prst="roundRect">
            <a:avLst>
              <a:gd name="adj" fmla="val 50000"/>
            </a:avLst>
          </a:prstGeom>
          <a:solidFill>
            <a:srgbClr val="2E7A3C"/>
          </a:solidFill>
          <a:ln/>
        </p:spPr>
      </p:sp>
      <p:sp>
        <p:nvSpPr>
          <p:cNvPr id="8" name="Text 6"/>
          <p:cNvSpPr/>
          <p:nvPr/>
        </p:nvSpPr>
        <p:spPr>
          <a:xfrm>
            <a:off x="11161663" y="2011611"/>
            <a:ext cx="141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Kantumruy Pro" pitchFamily="34" charset="0"/>
                <a:ea typeface="Kantumruy Pro" pitchFamily="34" charset="-122"/>
                <a:cs typeface="Kantumruy Pro" pitchFamily="34" charset="-120"/>
              </a:rPr>
              <a:t>ខ្ញុំ</a:t>
            </a:r>
            <a:endParaRPr lang="en-US" sz="1200" dirty="0"/>
          </a:p>
        </p:txBody>
      </p:sp>
      <p:sp>
        <p:nvSpPr>
          <p:cNvPr id="9" name="Shape 7"/>
          <p:cNvSpPr/>
          <p:nvPr/>
        </p:nvSpPr>
        <p:spPr>
          <a:xfrm>
            <a:off x="812800" y="2828776"/>
            <a:ext cx="10566400" cy="0"/>
          </a:xfrm>
          <a:prstGeom prst="line">
            <a:avLst/>
          </a:prstGeom>
          <a:noFill/>
          <a:ln w="6350">
            <a:solidFill>
              <a:srgbClr val="E2DED2"/>
            </a:solidFill>
            <a:prstDash val="solid"/>
          </a:ln>
        </p:spPr>
      </p:sp>
      <p:sp>
        <p:nvSpPr>
          <p:cNvPr id="10" name="Text 8"/>
          <p:cNvSpPr/>
          <p:nvPr/>
        </p:nvSpPr>
        <p:spPr>
          <a:xfrm>
            <a:off x="812800" y="2485281"/>
            <a:ext cx="35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2</a:t>
            </a:r>
            <a:endParaRPr lang="en-US" sz="1200" dirty="0"/>
          </a:p>
        </p:txBody>
      </p:sp>
      <p:sp>
        <p:nvSpPr>
          <p:cNvPr id="11" name="Text 9"/>
          <p:cNvSpPr/>
          <p:nvPr/>
        </p:nvSpPr>
        <p:spPr>
          <a:xfrm>
            <a:off x="1270000" y="2449066"/>
            <a:ext cx="9805487"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3202E"/>
                </a:solidFill>
                <a:latin typeface="Kantumruy Pro" pitchFamily="34" charset="0"/>
                <a:ea typeface="Kantumruy Pro" pitchFamily="34" charset="-122"/>
                <a:cs typeface="Kantumruy Pro" pitchFamily="34" charset="-120"/>
              </a:rPr>
              <a:t>សរសេរ DESIGN.md — ច្បាប់, លំដាប់ពិនិត្យ, atomic UPDATE</a:t>
            </a:r>
            <a:endParaRPr lang="en-US" sz="1500" dirty="0"/>
          </a:p>
        </p:txBody>
      </p:sp>
      <p:sp>
        <p:nvSpPr>
          <p:cNvPr id="12" name="Shape 10"/>
          <p:cNvSpPr/>
          <p:nvPr/>
        </p:nvSpPr>
        <p:spPr>
          <a:xfrm>
            <a:off x="10942290" y="2434481"/>
            <a:ext cx="436910" cy="314920"/>
          </a:xfrm>
          <a:prstGeom prst="roundRect">
            <a:avLst>
              <a:gd name="adj" fmla="val 50000"/>
            </a:avLst>
          </a:prstGeom>
          <a:solidFill>
            <a:srgbClr val="13202E"/>
          </a:solidFill>
          <a:ln/>
        </p:spPr>
      </p:sp>
      <p:sp>
        <p:nvSpPr>
          <p:cNvPr id="13" name="Text 11"/>
          <p:cNvSpPr/>
          <p:nvPr/>
        </p:nvSpPr>
        <p:spPr>
          <a:xfrm>
            <a:off x="11069290" y="248528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AI</a:t>
            </a:r>
            <a:endParaRPr lang="en-US" sz="1200" dirty="0"/>
          </a:p>
        </p:txBody>
      </p:sp>
      <p:sp>
        <p:nvSpPr>
          <p:cNvPr id="14" name="Shape 12"/>
          <p:cNvSpPr/>
          <p:nvPr/>
        </p:nvSpPr>
        <p:spPr>
          <a:xfrm>
            <a:off x="812800" y="3302446"/>
            <a:ext cx="10566400" cy="0"/>
          </a:xfrm>
          <a:prstGeom prst="line">
            <a:avLst/>
          </a:prstGeom>
          <a:noFill/>
          <a:ln w="6350">
            <a:solidFill>
              <a:srgbClr val="E2DED2"/>
            </a:solidFill>
            <a:prstDash val="solid"/>
          </a:ln>
        </p:spPr>
      </p:sp>
      <p:sp>
        <p:nvSpPr>
          <p:cNvPr id="15" name="Text 13"/>
          <p:cNvSpPr/>
          <p:nvPr/>
        </p:nvSpPr>
        <p:spPr>
          <a:xfrm>
            <a:off x="812800" y="2958951"/>
            <a:ext cx="35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3</a:t>
            </a:r>
            <a:endParaRPr lang="en-US" sz="1200" dirty="0"/>
          </a:p>
        </p:txBody>
      </p:sp>
      <p:sp>
        <p:nvSpPr>
          <p:cNvPr id="16" name="Text 14"/>
          <p:cNvSpPr/>
          <p:nvPr/>
        </p:nvSpPr>
        <p:spPr>
          <a:xfrm>
            <a:off x="1270000" y="2922736"/>
            <a:ext cx="9900631"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3202E"/>
                </a:solidFill>
                <a:latin typeface="Kantumruy Pro" pitchFamily="34" charset="0"/>
                <a:ea typeface="Kantumruy Pro" pitchFamily="34" charset="-122"/>
                <a:cs typeface="Kantumruy Pro" pitchFamily="34" charset="-120"/>
              </a:rPr>
              <a:t>Review design មុនសរសេរកូដ</a:t>
            </a:r>
            <a:endParaRPr lang="en-US" sz="1500" dirty="0"/>
          </a:p>
        </p:txBody>
      </p:sp>
      <p:sp>
        <p:nvSpPr>
          <p:cNvPr id="17" name="Shape 15"/>
          <p:cNvSpPr/>
          <p:nvPr/>
        </p:nvSpPr>
        <p:spPr>
          <a:xfrm>
            <a:off x="11034663" y="2908151"/>
            <a:ext cx="344537" cy="314920"/>
          </a:xfrm>
          <a:prstGeom prst="roundRect">
            <a:avLst>
              <a:gd name="adj" fmla="val 50000"/>
            </a:avLst>
          </a:prstGeom>
          <a:solidFill>
            <a:srgbClr val="2E7A3C"/>
          </a:solidFill>
          <a:ln/>
        </p:spPr>
      </p:sp>
      <p:sp>
        <p:nvSpPr>
          <p:cNvPr id="18" name="Text 16"/>
          <p:cNvSpPr/>
          <p:nvPr/>
        </p:nvSpPr>
        <p:spPr>
          <a:xfrm>
            <a:off x="11161663" y="2958951"/>
            <a:ext cx="141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Kantumruy Pro" pitchFamily="34" charset="0"/>
                <a:ea typeface="Kantumruy Pro" pitchFamily="34" charset="-122"/>
                <a:cs typeface="Kantumruy Pro" pitchFamily="34" charset="-120"/>
              </a:rPr>
              <a:t>ខ្ញុំ</a:t>
            </a:r>
            <a:endParaRPr lang="en-US" sz="1200" dirty="0"/>
          </a:p>
        </p:txBody>
      </p:sp>
      <p:sp>
        <p:nvSpPr>
          <p:cNvPr id="19" name="Shape 17"/>
          <p:cNvSpPr/>
          <p:nvPr/>
        </p:nvSpPr>
        <p:spPr>
          <a:xfrm>
            <a:off x="812800" y="3776117"/>
            <a:ext cx="10566400" cy="0"/>
          </a:xfrm>
          <a:prstGeom prst="line">
            <a:avLst/>
          </a:prstGeom>
          <a:noFill/>
          <a:ln w="6350">
            <a:solidFill>
              <a:srgbClr val="E2DED2"/>
            </a:solidFill>
            <a:prstDash val="solid"/>
          </a:ln>
        </p:spPr>
      </p:sp>
      <p:sp>
        <p:nvSpPr>
          <p:cNvPr id="20" name="Text 18"/>
          <p:cNvSpPr/>
          <p:nvPr/>
        </p:nvSpPr>
        <p:spPr>
          <a:xfrm>
            <a:off x="812800" y="3432621"/>
            <a:ext cx="35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4</a:t>
            </a:r>
            <a:endParaRPr lang="en-US" sz="1200" dirty="0"/>
          </a:p>
        </p:txBody>
      </p:sp>
      <p:sp>
        <p:nvSpPr>
          <p:cNvPr id="21" name="Text 19"/>
          <p:cNvSpPr/>
          <p:nvPr/>
        </p:nvSpPr>
        <p:spPr>
          <a:xfrm>
            <a:off x="1270000" y="3396407"/>
            <a:ext cx="9805487"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3202E"/>
                </a:solidFill>
                <a:latin typeface="Kantumruy Pro" pitchFamily="34" charset="0"/>
                <a:ea typeface="Kantumruy Pro" pitchFamily="34" charset="-122"/>
                <a:cs typeface="Kantumruy Pro" pitchFamily="34" charset="-120"/>
              </a:rPr>
              <a:t>សរសេរកូដ តាម design — Controller, Service, Repository</a:t>
            </a:r>
            <a:endParaRPr lang="en-US" sz="1500" dirty="0"/>
          </a:p>
        </p:txBody>
      </p:sp>
      <p:sp>
        <p:nvSpPr>
          <p:cNvPr id="22" name="Shape 20"/>
          <p:cNvSpPr/>
          <p:nvPr/>
        </p:nvSpPr>
        <p:spPr>
          <a:xfrm>
            <a:off x="10942290" y="3381821"/>
            <a:ext cx="436910" cy="314920"/>
          </a:xfrm>
          <a:prstGeom prst="roundRect">
            <a:avLst>
              <a:gd name="adj" fmla="val 50000"/>
            </a:avLst>
          </a:prstGeom>
          <a:solidFill>
            <a:srgbClr val="13202E"/>
          </a:solidFill>
          <a:ln/>
        </p:spPr>
      </p:sp>
      <p:sp>
        <p:nvSpPr>
          <p:cNvPr id="23" name="Text 21"/>
          <p:cNvSpPr/>
          <p:nvPr/>
        </p:nvSpPr>
        <p:spPr>
          <a:xfrm>
            <a:off x="11069290" y="3432621"/>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AI</a:t>
            </a:r>
            <a:endParaRPr lang="en-US" sz="1200" dirty="0"/>
          </a:p>
        </p:txBody>
      </p:sp>
      <p:sp>
        <p:nvSpPr>
          <p:cNvPr id="24" name="Shape 22"/>
          <p:cNvSpPr/>
          <p:nvPr/>
        </p:nvSpPr>
        <p:spPr>
          <a:xfrm>
            <a:off x="812800" y="4249787"/>
            <a:ext cx="10566400" cy="0"/>
          </a:xfrm>
          <a:prstGeom prst="line">
            <a:avLst/>
          </a:prstGeom>
          <a:noFill/>
          <a:ln w="6350">
            <a:solidFill>
              <a:srgbClr val="E2DED2"/>
            </a:solidFill>
            <a:prstDash val="solid"/>
          </a:ln>
        </p:spPr>
      </p:sp>
      <p:sp>
        <p:nvSpPr>
          <p:cNvPr id="25" name="Text 23"/>
          <p:cNvSpPr/>
          <p:nvPr/>
        </p:nvSpPr>
        <p:spPr>
          <a:xfrm>
            <a:off x="812800" y="3906292"/>
            <a:ext cx="35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5</a:t>
            </a:r>
            <a:endParaRPr lang="en-US" sz="1200" dirty="0"/>
          </a:p>
        </p:txBody>
      </p:sp>
      <p:sp>
        <p:nvSpPr>
          <p:cNvPr id="26" name="Text 24"/>
          <p:cNvSpPr/>
          <p:nvPr/>
        </p:nvSpPr>
        <p:spPr>
          <a:xfrm>
            <a:off x="1270000" y="3870077"/>
            <a:ext cx="9805487"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3202E"/>
                </a:solidFill>
                <a:latin typeface="Kantumruy Pro" pitchFamily="34" charset="0"/>
                <a:ea typeface="Kantumruy Pro" pitchFamily="34" charset="-122"/>
                <a:cs typeface="Kantumruy Pro" pitchFamily="34" charset="-120"/>
              </a:rPr>
              <a:t>សរសេរ tests — MockMvc និង concurrency test</a:t>
            </a:r>
            <a:endParaRPr lang="en-US" sz="1500" dirty="0"/>
          </a:p>
        </p:txBody>
      </p:sp>
      <p:sp>
        <p:nvSpPr>
          <p:cNvPr id="27" name="Shape 25"/>
          <p:cNvSpPr/>
          <p:nvPr/>
        </p:nvSpPr>
        <p:spPr>
          <a:xfrm>
            <a:off x="10942290" y="3855492"/>
            <a:ext cx="436910" cy="314920"/>
          </a:xfrm>
          <a:prstGeom prst="roundRect">
            <a:avLst>
              <a:gd name="adj" fmla="val 50000"/>
            </a:avLst>
          </a:prstGeom>
          <a:solidFill>
            <a:srgbClr val="13202E"/>
          </a:solidFill>
          <a:ln/>
        </p:spPr>
      </p:sp>
      <p:sp>
        <p:nvSpPr>
          <p:cNvPr id="28" name="Text 26"/>
          <p:cNvSpPr/>
          <p:nvPr/>
        </p:nvSpPr>
        <p:spPr>
          <a:xfrm>
            <a:off x="11069290" y="3906292"/>
            <a:ext cx="2337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JetBrains Mono" pitchFamily="34" charset="0"/>
                <a:ea typeface="JetBrains Mono" pitchFamily="34" charset="-122"/>
                <a:cs typeface="JetBrains Mono" pitchFamily="34" charset="-120"/>
              </a:rPr>
              <a:t>AI</a:t>
            </a:r>
            <a:endParaRPr lang="en-US" sz="1200" dirty="0"/>
          </a:p>
        </p:txBody>
      </p:sp>
      <p:sp>
        <p:nvSpPr>
          <p:cNvPr id="29" name="Text 27"/>
          <p:cNvSpPr/>
          <p:nvPr/>
        </p:nvSpPr>
        <p:spPr>
          <a:xfrm>
            <a:off x="812800" y="4379962"/>
            <a:ext cx="35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7A3C"/>
                </a:solidFill>
                <a:latin typeface="JetBrains Mono" pitchFamily="34" charset="0"/>
                <a:ea typeface="JetBrains Mono" pitchFamily="34" charset="-122"/>
                <a:cs typeface="JetBrains Mono" pitchFamily="34" charset="-120"/>
              </a:rPr>
              <a:t>6</a:t>
            </a:r>
            <a:endParaRPr lang="en-US" sz="1200" dirty="0"/>
          </a:p>
        </p:txBody>
      </p:sp>
      <p:sp>
        <p:nvSpPr>
          <p:cNvPr id="30" name="Text 28"/>
          <p:cNvSpPr/>
          <p:nvPr/>
        </p:nvSpPr>
        <p:spPr>
          <a:xfrm>
            <a:off x="1270000" y="4343747"/>
            <a:ext cx="9900631"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3202E"/>
                </a:solidFill>
                <a:latin typeface="Kantumruy Pro" pitchFamily="34" charset="0"/>
                <a:ea typeface="Kantumruy Pro" pitchFamily="34" charset="-122"/>
                <a:cs typeface="Kantumruy Pro" pitchFamily="34" charset="-120"/>
              </a:rPr>
              <a:t>រត់ ./gradlew test និង review diff មុន commit</a:t>
            </a:r>
            <a:endParaRPr lang="en-US" sz="1500" dirty="0"/>
          </a:p>
        </p:txBody>
      </p:sp>
      <p:sp>
        <p:nvSpPr>
          <p:cNvPr id="31" name="Shape 29"/>
          <p:cNvSpPr/>
          <p:nvPr/>
        </p:nvSpPr>
        <p:spPr>
          <a:xfrm>
            <a:off x="11034663" y="4329162"/>
            <a:ext cx="344537" cy="314920"/>
          </a:xfrm>
          <a:prstGeom prst="roundRect">
            <a:avLst>
              <a:gd name="adj" fmla="val 50000"/>
            </a:avLst>
          </a:prstGeom>
          <a:solidFill>
            <a:srgbClr val="2E7A3C"/>
          </a:solidFill>
          <a:ln/>
        </p:spPr>
      </p:sp>
      <p:sp>
        <p:nvSpPr>
          <p:cNvPr id="32" name="Text 30"/>
          <p:cNvSpPr/>
          <p:nvPr/>
        </p:nvSpPr>
        <p:spPr>
          <a:xfrm>
            <a:off x="11161663" y="4379962"/>
            <a:ext cx="141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Kantumruy Pro" pitchFamily="34" charset="0"/>
                <a:ea typeface="Kantumruy Pro" pitchFamily="34" charset="-122"/>
                <a:cs typeface="Kantumruy Pro" pitchFamily="34" charset="-120"/>
              </a:rPr>
              <a:t>ខ្ញុំ</a:t>
            </a:r>
            <a:endParaRPr lang="en-US" sz="1200" dirty="0"/>
          </a:p>
        </p:txBody>
      </p:sp>
      <p:sp>
        <p:nvSpPr>
          <p:cNvPr id="33" name="Text 31"/>
          <p:cNvSpPr/>
          <p:nvPr/>
        </p:nvSpPr>
        <p:spPr>
          <a:xfrm>
            <a:off x="812800" y="4974282"/>
            <a:ext cx="10883392"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4A5361"/>
                </a:solidFill>
                <a:latin typeface="Kantumruy Pro" pitchFamily="34" charset="0"/>
                <a:ea typeface="Kantumruy Pro" pitchFamily="34" charset="-122"/>
                <a:cs typeface="Kantumruy Pro" pitchFamily="34" charset="-120"/>
              </a:rPr>
              <a:t>ហេតុអ្វី spec មុន?</a:t>
            </a:r>
            <a:r>
              <a:rPr lang="en-US" sz="1500" dirty="0">
                <a:solidFill>
                  <a:srgbClr val="4A5361"/>
                </a:solidFill>
                <a:latin typeface="Kantumruy Pro" pitchFamily="34" charset="0"/>
                <a:ea typeface="Kantumruy Pro" pitchFamily="34" charset="-122"/>
                <a:cs typeface="Kantumruy Pro" pitchFamily="34" charset="-120"/>
              </a:rPr>
              <a:t> AI សរសេរកូដ តាមឯកសារ ដែលខ្ញុំបាន review រួច — មិនមែនទាយ។</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7A3C"/>
                </a:solidFill>
                <a:latin typeface="Kantumruy Pro" pitchFamily="34" charset="0"/>
                <a:ea typeface="Kantumruy Pro" pitchFamily="34" charset="-122"/>
                <a:cs typeface="Kantumruy Pro" pitchFamily="34" charset="-120"/>
              </a:rPr>
              <a:t>AI WORKFLOW · ការអនុវត្ត</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13202E"/>
                </a:solidFill>
                <a:latin typeface="Kantumruy Pro" pitchFamily="34" charset="0"/>
                <a:ea typeface="Kantumruy Pro" pitchFamily="34" charset="-122"/>
                <a:cs typeface="Kantumruy Pro" pitchFamily="34" charset="-120"/>
              </a:rPr>
              <a:t>AI សរសេរ — ខ្ញុំ ផ្ទៀងផ្ទាត់</a:t>
            </a:r>
            <a:endParaRPr lang="en-US" sz="3200" dirty="0"/>
          </a:p>
        </p:txBody>
      </p:sp>
      <p:sp>
        <p:nvSpPr>
          <p:cNvPr id="4" name="Text 2"/>
          <p:cNvSpPr/>
          <p:nvPr/>
        </p:nvSpPr>
        <p:spPr>
          <a:xfrm>
            <a:off x="812800" y="1935411"/>
            <a:ext cx="5284724"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3202E"/>
                </a:solidFill>
                <a:latin typeface="Kantumruy Pro" pitchFamily="34" charset="0"/>
                <a:ea typeface="Kantumruy Pro" pitchFamily="34" charset="-122"/>
                <a:cs typeface="Kantumruy Pro" pitchFamily="34" charset="-120"/>
              </a:rPr>
              <a:t>Claude Code សរសេរ</a:t>
            </a:r>
            <a:endParaRPr lang="en-US" sz="2000" dirty="0"/>
          </a:p>
        </p:txBody>
      </p:sp>
      <p:sp>
        <p:nvSpPr>
          <p:cNvPr id="5" name="Shape 3"/>
          <p:cNvSpPr/>
          <p:nvPr/>
        </p:nvSpPr>
        <p:spPr>
          <a:xfrm>
            <a:off x="815975" y="2370386"/>
            <a:ext cx="5124450" cy="596900"/>
          </a:xfrm>
          <a:prstGeom prst="roundRect">
            <a:avLst>
              <a:gd name="adj" fmla="val 16489"/>
            </a:avLst>
          </a:prstGeom>
          <a:solidFill>
            <a:srgbClr val="FFFDF7"/>
          </a:solidFill>
          <a:ln w="6350">
            <a:solidFill>
              <a:srgbClr val="E2DED2"/>
            </a:solidFill>
            <a:prstDash val="solid"/>
          </a:ln>
        </p:spPr>
      </p:sp>
      <p:sp>
        <p:nvSpPr>
          <p:cNvPr id="6" name="Text 4"/>
          <p:cNvSpPr/>
          <p:nvPr/>
        </p:nvSpPr>
        <p:spPr>
          <a:xfrm>
            <a:off x="1022350" y="2525961"/>
            <a:ext cx="4853051"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3202E"/>
                </a:solidFill>
                <a:latin typeface="Kantumruy Pro" pitchFamily="34" charset="0"/>
                <a:ea typeface="Kantumruy Pro" pitchFamily="34" charset="-122"/>
                <a:cs typeface="Kantumruy Pro" pitchFamily="34" charset="-120"/>
              </a:rPr>
              <a:t>DESIGN.md</a:t>
            </a:r>
            <a:r>
              <a:rPr lang="en-US" sz="1500" dirty="0">
                <a:solidFill>
                  <a:srgbClr val="13202E"/>
                </a:solidFill>
                <a:latin typeface="Kantumruy Pro" pitchFamily="34" charset="0"/>
                <a:ea typeface="Kantumruy Pro" pitchFamily="34" charset="-122"/>
                <a:cs typeface="Kantumruy Pro" pitchFamily="34" charset="-120"/>
              </a:rPr>
              <a:t> — ច្បាប់ ៦ និងលំដាប់ពិនិត្យ</a:t>
            </a:r>
            <a:endParaRPr lang="en-US" sz="1500" dirty="0"/>
          </a:p>
        </p:txBody>
      </p:sp>
      <p:sp>
        <p:nvSpPr>
          <p:cNvPr id="7" name="Shape 5"/>
          <p:cNvSpPr/>
          <p:nvPr/>
        </p:nvSpPr>
        <p:spPr>
          <a:xfrm>
            <a:off x="815975" y="3075236"/>
            <a:ext cx="5124450" cy="596900"/>
          </a:xfrm>
          <a:prstGeom prst="roundRect">
            <a:avLst>
              <a:gd name="adj" fmla="val 16489"/>
            </a:avLst>
          </a:prstGeom>
          <a:solidFill>
            <a:srgbClr val="FFFDF7"/>
          </a:solidFill>
          <a:ln w="6350">
            <a:solidFill>
              <a:srgbClr val="E2DED2"/>
            </a:solidFill>
            <a:prstDash val="solid"/>
          </a:ln>
        </p:spPr>
      </p:sp>
      <p:sp>
        <p:nvSpPr>
          <p:cNvPr id="8" name="Text 6"/>
          <p:cNvSpPr/>
          <p:nvPr/>
        </p:nvSpPr>
        <p:spPr>
          <a:xfrm>
            <a:off x="1022350" y="3230811"/>
            <a:ext cx="4853051"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3202E"/>
                </a:solidFill>
                <a:latin typeface="Kantumruy Pro" pitchFamily="34" charset="0"/>
                <a:ea typeface="Kantumruy Pro" pitchFamily="34" charset="-122"/>
                <a:cs typeface="Kantumruy Pro" pitchFamily="34" charset="-120"/>
              </a:rPr>
              <a:t>កូដ</a:t>
            </a:r>
            <a:r>
              <a:rPr lang="en-US" sz="1500" dirty="0">
                <a:solidFill>
                  <a:srgbClr val="13202E"/>
                </a:solidFill>
                <a:latin typeface="Kantumruy Pro" pitchFamily="34" charset="0"/>
                <a:ea typeface="Kantumruy Pro" pitchFamily="34" charset="-122"/>
                <a:cs typeface="Kantumruy Pro" pitchFamily="34" charset="-120"/>
              </a:rPr>
              <a:t> — layers, security, error handling</a:t>
            </a:r>
            <a:endParaRPr lang="en-US" sz="1500" dirty="0"/>
          </a:p>
        </p:txBody>
      </p:sp>
      <p:sp>
        <p:nvSpPr>
          <p:cNvPr id="9" name="Shape 7"/>
          <p:cNvSpPr/>
          <p:nvPr/>
        </p:nvSpPr>
        <p:spPr>
          <a:xfrm>
            <a:off x="815975" y="3780086"/>
            <a:ext cx="5124450" cy="596900"/>
          </a:xfrm>
          <a:prstGeom prst="roundRect">
            <a:avLst>
              <a:gd name="adj" fmla="val 16489"/>
            </a:avLst>
          </a:prstGeom>
          <a:solidFill>
            <a:srgbClr val="FFFDF7"/>
          </a:solidFill>
          <a:ln w="6350">
            <a:solidFill>
              <a:srgbClr val="E2DED2"/>
            </a:solidFill>
            <a:prstDash val="solid"/>
          </a:ln>
        </p:spPr>
      </p:sp>
      <p:sp>
        <p:nvSpPr>
          <p:cNvPr id="10" name="Text 8"/>
          <p:cNvSpPr/>
          <p:nvPr/>
        </p:nvSpPr>
        <p:spPr>
          <a:xfrm>
            <a:off x="1022350" y="3935661"/>
            <a:ext cx="4853051"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3202E"/>
                </a:solidFill>
                <a:latin typeface="Kantumruy Pro" pitchFamily="34" charset="0"/>
                <a:ea typeface="Kantumruy Pro" pitchFamily="34" charset="-122"/>
                <a:cs typeface="Kantumruy Pro" pitchFamily="34" charset="-120"/>
              </a:rPr>
              <a:t>Tests</a:t>
            </a:r>
            <a:r>
              <a:rPr lang="en-US" sz="1500" dirty="0">
                <a:solidFill>
                  <a:srgbClr val="13202E"/>
                </a:solidFill>
                <a:latin typeface="Kantumruy Pro" pitchFamily="34" charset="0"/>
                <a:ea typeface="Kantumruy Pro" pitchFamily="34" charset="-122"/>
                <a:cs typeface="Kantumruy Pro" pitchFamily="34" charset="-120"/>
              </a:rPr>
              <a:t> — scenario និង concurrency</a:t>
            </a:r>
            <a:endParaRPr lang="en-US" sz="1500" dirty="0"/>
          </a:p>
        </p:txBody>
      </p:sp>
      <p:sp>
        <p:nvSpPr>
          <p:cNvPr id="11" name="Shape 9"/>
          <p:cNvSpPr/>
          <p:nvPr/>
        </p:nvSpPr>
        <p:spPr>
          <a:xfrm>
            <a:off x="815975" y="4484936"/>
            <a:ext cx="5124450" cy="596900"/>
          </a:xfrm>
          <a:prstGeom prst="roundRect">
            <a:avLst>
              <a:gd name="adj" fmla="val 16489"/>
            </a:avLst>
          </a:prstGeom>
          <a:solidFill>
            <a:srgbClr val="FFFDF7"/>
          </a:solidFill>
          <a:ln w="6350">
            <a:solidFill>
              <a:srgbClr val="E2DED2"/>
            </a:solidFill>
            <a:prstDash val="solid"/>
          </a:ln>
        </p:spPr>
      </p:sp>
      <p:sp>
        <p:nvSpPr>
          <p:cNvPr id="12" name="Text 10"/>
          <p:cNvSpPr/>
          <p:nvPr/>
        </p:nvSpPr>
        <p:spPr>
          <a:xfrm>
            <a:off x="1022350" y="4640511"/>
            <a:ext cx="4853051"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3202E"/>
                </a:solidFill>
                <a:latin typeface="Kantumruy Pro" pitchFamily="34" charset="0"/>
                <a:ea typeface="Kantumruy Pro" pitchFamily="34" charset="-122"/>
                <a:cs typeface="Kantumruy Pro" pitchFamily="34" charset="-120"/>
              </a:rPr>
              <a:t>Docs</a:t>
            </a:r>
            <a:r>
              <a:rPr lang="en-US" sz="1500" dirty="0">
                <a:solidFill>
                  <a:srgbClr val="13202E"/>
                </a:solidFill>
                <a:latin typeface="Kantumruy Pro" pitchFamily="34" charset="0"/>
                <a:ea typeface="Kantumruy Pro" pitchFamily="34" charset="-122"/>
                <a:cs typeface="Kantumruy Pro" pitchFamily="34" charset="-120"/>
              </a:rPr>
              <a:t> — README, Swagger, slides</a:t>
            </a:r>
            <a:endParaRPr lang="en-US" sz="1500" dirty="0"/>
          </a:p>
        </p:txBody>
      </p:sp>
      <p:sp>
        <p:nvSpPr>
          <p:cNvPr id="13" name="Text 11"/>
          <p:cNvSpPr/>
          <p:nvPr/>
        </p:nvSpPr>
        <p:spPr>
          <a:xfrm>
            <a:off x="6248400" y="1935411"/>
            <a:ext cx="5284724"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7A3C"/>
                </a:solidFill>
                <a:latin typeface="Kantumruy Pro" pitchFamily="34" charset="0"/>
                <a:ea typeface="Kantumruy Pro" pitchFamily="34" charset="-122"/>
                <a:cs typeface="Kantumruy Pro" pitchFamily="34" charset="-120"/>
              </a:rPr>
              <a:t>ខ្ញុំ ធ្វើ</a:t>
            </a:r>
            <a:endParaRPr lang="en-US" sz="2000" dirty="0"/>
          </a:p>
        </p:txBody>
      </p:sp>
      <p:sp>
        <p:nvSpPr>
          <p:cNvPr id="14" name="Shape 12"/>
          <p:cNvSpPr/>
          <p:nvPr/>
        </p:nvSpPr>
        <p:spPr>
          <a:xfrm>
            <a:off x="6248400" y="2367211"/>
            <a:ext cx="5130800" cy="590550"/>
          </a:xfrm>
          <a:prstGeom prst="roundRect">
            <a:avLst>
              <a:gd name="adj" fmla="val 17204"/>
            </a:avLst>
          </a:prstGeom>
          <a:solidFill>
            <a:srgbClr val="13202E"/>
          </a:solidFill>
          <a:ln/>
        </p:spPr>
      </p:sp>
      <p:sp>
        <p:nvSpPr>
          <p:cNvPr id="15" name="Text 13"/>
          <p:cNvSpPr/>
          <p:nvPr/>
        </p:nvSpPr>
        <p:spPr>
          <a:xfrm>
            <a:off x="6451600" y="2519611"/>
            <a:ext cx="4866132"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F5F3EC"/>
                </a:solidFill>
                <a:latin typeface="Kantumruy Pro" pitchFamily="34" charset="0"/>
                <a:ea typeface="Kantumruy Pro" pitchFamily="34" charset="-122"/>
                <a:cs typeface="Kantumruy Pro" pitchFamily="34" charset="-120"/>
              </a:rPr>
              <a:t>Requirement</a:t>
            </a:r>
            <a:r>
              <a:rPr lang="en-US" sz="1500" dirty="0">
                <a:solidFill>
                  <a:srgbClr val="F5F3EC"/>
                </a:solidFill>
                <a:latin typeface="Kantumruy Pro" pitchFamily="34" charset="0"/>
                <a:ea typeface="Kantumruy Pro" pitchFamily="34" charset="-122"/>
                <a:cs typeface="Kantumruy Pro" pitchFamily="34" charset="-120"/>
              </a:rPr>
              <a:t> — ផ្តល់ច្បាប់ ឲ្យច្បាស់</a:t>
            </a:r>
            <a:endParaRPr lang="en-US" sz="1500" dirty="0"/>
          </a:p>
        </p:txBody>
      </p:sp>
      <p:sp>
        <p:nvSpPr>
          <p:cNvPr id="16" name="Shape 14"/>
          <p:cNvSpPr/>
          <p:nvPr/>
        </p:nvSpPr>
        <p:spPr>
          <a:xfrm>
            <a:off x="6248400" y="3059361"/>
            <a:ext cx="5130800" cy="590550"/>
          </a:xfrm>
          <a:prstGeom prst="roundRect">
            <a:avLst>
              <a:gd name="adj" fmla="val 17204"/>
            </a:avLst>
          </a:prstGeom>
          <a:solidFill>
            <a:srgbClr val="13202E"/>
          </a:solidFill>
          <a:ln/>
        </p:spPr>
      </p:sp>
      <p:sp>
        <p:nvSpPr>
          <p:cNvPr id="17" name="Text 15"/>
          <p:cNvSpPr/>
          <p:nvPr/>
        </p:nvSpPr>
        <p:spPr>
          <a:xfrm>
            <a:off x="6451600" y="3211761"/>
            <a:ext cx="4866132"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F5F3EC"/>
                </a:solidFill>
                <a:latin typeface="Kantumruy Pro" pitchFamily="34" charset="0"/>
                <a:ea typeface="Kantumruy Pro" pitchFamily="34" charset="-122"/>
                <a:cs typeface="Kantumruy Pro" pitchFamily="34" charset="-120"/>
              </a:rPr>
              <a:t>Review</a:t>
            </a:r>
            <a:r>
              <a:rPr lang="en-US" sz="1500" dirty="0">
                <a:solidFill>
                  <a:srgbClr val="F5F3EC"/>
                </a:solidFill>
                <a:latin typeface="Kantumruy Pro" pitchFamily="34" charset="0"/>
                <a:ea typeface="Kantumruy Pro" pitchFamily="34" charset="-122"/>
                <a:cs typeface="Kantumruy Pro" pitchFamily="34" charset="-120"/>
              </a:rPr>
              <a:t> — design មុន, diff ក្រោយ</a:t>
            </a:r>
            <a:endParaRPr lang="en-US" sz="1500" dirty="0"/>
          </a:p>
        </p:txBody>
      </p:sp>
      <p:sp>
        <p:nvSpPr>
          <p:cNvPr id="18" name="Shape 16"/>
          <p:cNvSpPr/>
          <p:nvPr/>
        </p:nvSpPr>
        <p:spPr>
          <a:xfrm>
            <a:off x="6248400" y="3751511"/>
            <a:ext cx="5130800" cy="590550"/>
          </a:xfrm>
          <a:prstGeom prst="roundRect">
            <a:avLst>
              <a:gd name="adj" fmla="val 17204"/>
            </a:avLst>
          </a:prstGeom>
          <a:solidFill>
            <a:srgbClr val="13202E"/>
          </a:solidFill>
          <a:ln/>
        </p:spPr>
      </p:sp>
      <p:sp>
        <p:nvSpPr>
          <p:cNvPr id="19" name="Text 17"/>
          <p:cNvSpPr/>
          <p:nvPr/>
        </p:nvSpPr>
        <p:spPr>
          <a:xfrm>
            <a:off x="6451600" y="3903911"/>
            <a:ext cx="4866132"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F5F3EC"/>
                </a:solidFill>
                <a:latin typeface="Kantumruy Pro" pitchFamily="34" charset="0"/>
                <a:ea typeface="Kantumruy Pro" pitchFamily="34" charset="-122"/>
                <a:cs typeface="Kantumruy Pro" pitchFamily="34" charset="-120"/>
              </a:rPr>
              <a:t>ផ្ទៀងផ្ទាត់</a:t>
            </a:r>
            <a:r>
              <a:rPr lang="en-US" sz="1500" dirty="0">
                <a:solidFill>
                  <a:srgbClr val="F5F3EC"/>
                </a:solidFill>
                <a:latin typeface="Kantumruy Pro" pitchFamily="34" charset="0"/>
                <a:ea typeface="Kantumruy Pro" pitchFamily="34" charset="-122"/>
                <a:cs typeface="Kantumruy Pro" pitchFamily="34" charset="-120"/>
              </a:rPr>
              <a:t> — ./gradlew test 20/20</a:t>
            </a:r>
            <a:endParaRPr lang="en-US" sz="1500" dirty="0"/>
          </a:p>
        </p:txBody>
      </p:sp>
      <p:sp>
        <p:nvSpPr>
          <p:cNvPr id="20" name="Shape 18"/>
          <p:cNvSpPr/>
          <p:nvPr/>
        </p:nvSpPr>
        <p:spPr>
          <a:xfrm>
            <a:off x="6248400" y="4443661"/>
            <a:ext cx="5130800" cy="590550"/>
          </a:xfrm>
          <a:prstGeom prst="roundRect">
            <a:avLst>
              <a:gd name="adj" fmla="val 17204"/>
            </a:avLst>
          </a:prstGeom>
          <a:solidFill>
            <a:srgbClr val="13202E"/>
          </a:solidFill>
          <a:ln/>
        </p:spPr>
      </p:sp>
      <p:sp>
        <p:nvSpPr>
          <p:cNvPr id="21" name="Text 19"/>
          <p:cNvSpPr/>
          <p:nvPr/>
        </p:nvSpPr>
        <p:spPr>
          <a:xfrm>
            <a:off x="6451600" y="4596061"/>
            <a:ext cx="4866132"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F5F3EC"/>
                </a:solidFill>
                <a:latin typeface="Kantumruy Pro" pitchFamily="34" charset="0"/>
                <a:ea typeface="Kantumruy Pro" pitchFamily="34" charset="-122"/>
                <a:cs typeface="Kantumruy Pro" pitchFamily="34" charset="-120"/>
              </a:rPr>
              <a:t>សម្រេចចិត្ត</a:t>
            </a:r>
            <a:r>
              <a:rPr lang="en-US" sz="1500" dirty="0">
                <a:solidFill>
                  <a:srgbClr val="F5F3EC"/>
                </a:solidFill>
                <a:latin typeface="Kantumruy Pro" pitchFamily="34" charset="0"/>
                <a:ea typeface="Kantumruy Pro" pitchFamily="34" charset="-122"/>
                <a:cs typeface="Kantumruy Pro" pitchFamily="34" charset="-120"/>
              </a:rPr>
              <a:t> — commit និង merge</a:t>
            </a:r>
            <a:endParaRPr lang="en-US" sz="1500" dirty="0"/>
          </a:p>
        </p:txBody>
      </p:sp>
      <p:sp>
        <p:nvSpPr>
          <p:cNvPr id="22" name="Text 20"/>
          <p:cNvSpPr/>
          <p:nvPr/>
        </p:nvSpPr>
        <p:spPr>
          <a:xfrm>
            <a:off x="812800" y="5389811"/>
            <a:ext cx="1088339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361"/>
                </a:solidFill>
                <a:latin typeface="Kantumruy Pro" pitchFamily="34" charset="0"/>
                <a:ea typeface="Kantumruy Pro" pitchFamily="34" charset="-122"/>
                <a:cs typeface="Kantumruy Pro" pitchFamily="34" charset="-120"/>
              </a:rPr>
              <a:t>គ្រប់ commit មាន </a:t>
            </a:r>
            <a:r>
              <a:rPr lang="en-US" sz="1200" dirty="0">
                <a:solidFill>
                  <a:srgbClr val="13202E"/>
                </a:solidFill>
                <a:latin typeface="Kantumruy Pro" pitchFamily="34" charset="0"/>
                <a:ea typeface="Kantumruy Pro" pitchFamily="34" charset="-122"/>
                <a:cs typeface="Kantumruy Pro" pitchFamily="34" charset="-120"/>
              </a:rPr>
              <a:t>Co-Authored-By: Claude</a:t>
            </a:r>
            <a:r>
              <a:rPr lang="en-US" sz="1200" dirty="0">
                <a:solidFill>
                  <a:srgbClr val="4A5361"/>
                </a:solidFill>
                <a:latin typeface="Kantumruy Pro" pitchFamily="34" charset="0"/>
                <a:ea typeface="Kantumruy Pro" pitchFamily="34" charset="-122"/>
                <a:cs typeface="Kantumruy Pro" pitchFamily="34" charset="-120"/>
              </a:rPr>
              <a:t> — បង្ហាញច្បាស់ ថា AI បានជួយ</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E7A3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5F3EC"/>
                </a:solidFill>
                <a:latin typeface="Kantumruy Pro" pitchFamily="34" charset="0"/>
                <a:ea typeface="Kantumruy Pro" pitchFamily="34" charset="-122"/>
                <a:cs typeface="Kantumruy Pro" pitchFamily="34" charset="-120"/>
              </a:rPr>
              <a:t>មេរៀនសំខាន់</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F5F3EC"/>
                </a:solidFill>
                <a:latin typeface="Kantumruy Pro" pitchFamily="34" charset="0"/>
                <a:ea typeface="Kantumruy Pro" pitchFamily="34" charset="-122"/>
                <a:cs typeface="Kantumruy Pro" pitchFamily="34" charset="-120"/>
              </a:rPr>
              <a:t>៣ យ៉ាង ដែលខ្ញុំបានរៀន</a:t>
            </a:r>
            <a:endParaRPr lang="en-US" sz="3200" dirty="0"/>
          </a:p>
        </p:txBody>
      </p:sp>
      <p:sp>
        <p:nvSpPr>
          <p:cNvPr id="4" name="Text 2"/>
          <p:cNvSpPr/>
          <p:nvPr/>
        </p:nvSpPr>
        <p:spPr>
          <a:xfrm>
            <a:off x="812800" y="1935411"/>
            <a:ext cx="558800"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F5F3EC"/>
                </a:solidFill>
                <a:latin typeface="Kantumruy Pro" pitchFamily="34" charset="0"/>
                <a:ea typeface="Kantumruy Pro" pitchFamily="34" charset="-122"/>
                <a:cs typeface="Kantumruy Pro" pitchFamily="34" charset="-120"/>
              </a:rPr>
              <a:t>1</a:t>
            </a:r>
            <a:endParaRPr lang="en-US" sz="3200" dirty="0"/>
          </a:p>
        </p:txBody>
      </p:sp>
      <p:sp>
        <p:nvSpPr>
          <p:cNvPr id="5" name="Text 3"/>
          <p:cNvSpPr/>
          <p:nvPr/>
        </p:nvSpPr>
        <p:spPr>
          <a:xfrm>
            <a:off x="1574800" y="2009031"/>
            <a:ext cx="10098532" cy="406400"/>
          </a:xfrm>
          <a:prstGeom prst="rect">
            <a:avLst/>
          </a:prstGeom>
          <a:noFill/>
          <a:ln/>
        </p:spPr>
        <p:txBody>
          <a:bodyPr wrap="square" lIns="0" tIns="0" rIns="0" bIns="0" rtlCol="0" anchor="t">
            <a:normAutofit/>
          </a:bodyPr>
          <a:lstStyle/>
          <a:p>
            <a:pPr algn="l" indent="0" marL="0">
              <a:lnSpc>
                <a:spcPts val="3000"/>
              </a:lnSpc>
              <a:buNone/>
            </a:pPr>
            <a:r>
              <a:rPr lang="en-US" sz="2000" b="1" dirty="0">
                <a:solidFill>
                  <a:srgbClr val="F5F3EC"/>
                </a:solidFill>
                <a:latin typeface="Kantumruy Pro" pitchFamily="34" charset="0"/>
                <a:ea typeface="Kantumruy Pro" pitchFamily="34" charset="-122"/>
                <a:cs typeface="Kantumruy Pro" pitchFamily="34" charset="-120"/>
              </a:rPr>
              <a:t>កុំជឿ client</a:t>
            </a:r>
            <a:r>
              <a:rPr lang="en-US" sz="2000" dirty="0">
                <a:solidFill>
                  <a:srgbClr val="F5F3EC"/>
                </a:solidFill>
                <a:latin typeface="Kantumruy Pro" pitchFamily="34" charset="0"/>
                <a:ea typeface="Kantumruy Pro" pitchFamily="34" charset="-122"/>
                <a:cs typeface="Kantumruy Pro" pitchFamily="34" charset="-120"/>
              </a:rPr>
              <a:t> — តម្លៃ និង identity មកពី server</a:t>
            </a:r>
            <a:endParaRPr lang="en-US" sz="2000" dirty="0"/>
          </a:p>
        </p:txBody>
      </p:sp>
      <p:sp>
        <p:nvSpPr>
          <p:cNvPr id="6" name="Text 4"/>
          <p:cNvSpPr/>
          <p:nvPr/>
        </p:nvSpPr>
        <p:spPr>
          <a:xfrm>
            <a:off x="812800" y="2717701"/>
            <a:ext cx="558800"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F5F3EC"/>
                </a:solidFill>
                <a:latin typeface="Kantumruy Pro" pitchFamily="34" charset="0"/>
                <a:ea typeface="Kantumruy Pro" pitchFamily="34" charset="-122"/>
                <a:cs typeface="Kantumruy Pro" pitchFamily="34" charset="-120"/>
              </a:rPr>
              <a:t>2</a:t>
            </a:r>
            <a:endParaRPr lang="en-US" sz="3200" dirty="0"/>
          </a:p>
        </p:txBody>
      </p:sp>
      <p:sp>
        <p:nvSpPr>
          <p:cNvPr id="7" name="Text 5"/>
          <p:cNvSpPr/>
          <p:nvPr/>
        </p:nvSpPr>
        <p:spPr>
          <a:xfrm>
            <a:off x="1574800" y="2791321"/>
            <a:ext cx="10098532" cy="406400"/>
          </a:xfrm>
          <a:prstGeom prst="rect">
            <a:avLst/>
          </a:prstGeom>
          <a:noFill/>
          <a:ln/>
        </p:spPr>
        <p:txBody>
          <a:bodyPr wrap="square" lIns="0" tIns="0" rIns="0" bIns="0" rtlCol="0" anchor="t">
            <a:normAutofit/>
          </a:bodyPr>
          <a:lstStyle/>
          <a:p>
            <a:pPr algn="l" indent="0" marL="0">
              <a:lnSpc>
                <a:spcPts val="3000"/>
              </a:lnSpc>
              <a:buNone/>
            </a:pPr>
            <a:r>
              <a:rPr lang="en-US" sz="2000" b="1" dirty="0">
                <a:solidFill>
                  <a:srgbClr val="F5F3EC"/>
                </a:solidFill>
                <a:latin typeface="Kantumruy Pro" pitchFamily="34" charset="0"/>
                <a:ea typeface="Kantumruy Pro" pitchFamily="34" charset="-122"/>
                <a:cs typeface="Kantumruy Pro" pitchFamily="34" charset="-120"/>
              </a:rPr>
              <a:t>ពិនិត្យ និងសរសេរ</a:t>
            </a:r>
            <a:r>
              <a:rPr lang="en-US" sz="2000" dirty="0">
                <a:solidFill>
                  <a:srgbClr val="F5F3EC"/>
                </a:solidFill>
                <a:latin typeface="Kantumruy Pro" pitchFamily="34" charset="0"/>
                <a:ea typeface="Kantumruy Pro" pitchFamily="34" charset="-122"/>
                <a:cs typeface="Kantumruy Pro" pitchFamily="34" charset="-120"/>
              </a:rPr>
              <a:t> ក្នុងជំហាន atomic តែមួយ</a:t>
            </a:r>
            <a:endParaRPr lang="en-US" sz="2000" dirty="0"/>
          </a:p>
        </p:txBody>
      </p:sp>
      <p:sp>
        <p:nvSpPr>
          <p:cNvPr id="8" name="Text 6"/>
          <p:cNvSpPr/>
          <p:nvPr/>
        </p:nvSpPr>
        <p:spPr>
          <a:xfrm>
            <a:off x="812800" y="3499991"/>
            <a:ext cx="558800"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F5F3EC"/>
                </a:solidFill>
                <a:latin typeface="Kantumruy Pro" pitchFamily="34" charset="0"/>
                <a:ea typeface="Kantumruy Pro" pitchFamily="34" charset="-122"/>
                <a:cs typeface="Kantumruy Pro" pitchFamily="34" charset="-120"/>
              </a:rPr>
              <a:t>3</a:t>
            </a:r>
            <a:endParaRPr lang="en-US" sz="3200" dirty="0"/>
          </a:p>
        </p:txBody>
      </p:sp>
      <p:sp>
        <p:nvSpPr>
          <p:cNvPr id="9" name="Text 7"/>
          <p:cNvSpPr/>
          <p:nvPr/>
        </p:nvSpPr>
        <p:spPr>
          <a:xfrm>
            <a:off x="1574800" y="3573611"/>
            <a:ext cx="10098532" cy="406400"/>
          </a:xfrm>
          <a:prstGeom prst="rect">
            <a:avLst/>
          </a:prstGeom>
          <a:noFill/>
          <a:ln/>
        </p:spPr>
        <p:txBody>
          <a:bodyPr wrap="square" lIns="0" tIns="0" rIns="0" bIns="0" rtlCol="0" anchor="t">
            <a:normAutofit/>
          </a:bodyPr>
          <a:lstStyle/>
          <a:p>
            <a:pPr algn="l" indent="0" marL="0">
              <a:lnSpc>
                <a:spcPts val="3000"/>
              </a:lnSpc>
              <a:buNone/>
            </a:pPr>
            <a:r>
              <a:rPr lang="en-US" sz="2000" b="1" dirty="0">
                <a:solidFill>
                  <a:srgbClr val="F5F3EC"/>
                </a:solidFill>
                <a:latin typeface="Kantumruy Pro" pitchFamily="34" charset="0"/>
                <a:ea typeface="Kantumruy Pro" pitchFamily="34" charset="-122"/>
                <a:cs typeface="Kantumruy Pro" pitchFamily="34" charset="-120"/>
              </a:rPr>
              <a:t>Transaction</a:t>
            </a:r>
            <a:r>
              <a:rPr lang="en-US" sz="2000" dirty="0">
                <a:solidFill>
                  <a:srgbClr val="F5F3EC"/>
                </a:solidFill>
                <a:latin typeface="Kantumruy Pro" pitchFamily="34" charset="0"/>
                <a:ea typeface="Kantumruy Pro" pitchFamily="34" charset="-122"/>
                <a:cs typeface="Kantumruy Pro" pitchFamily="34" charset="-120"/>
              </a:rPr>
              <a:t> — ជោគជ័យទាំងអស់ ឬត្រឡប់វិញទាំងអស់</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0A04B"/>
                </a:solidFill>
                <a:latin typeface="Kantumruy Pro" pitchFamily="34" charset="0"/>
                <a:ea typeface="Kantumruy Pro" pitchFamily="34" charset="-122"/>
                <a:cs typeface="Kantumruy Pro" pitchFamily="34" charset="-120"/>
              </a:rPr>
              <a:t>DEMO · ./gradlew bootRun</a:t>
            </a:r>
            <a:endParaRPr lang="en-US" sz="1200" dirty="0"/>
          </a:p>
        </p:txBody>
      </p:sp>
      <p:sp>
        <p:nvSpPr>
          <p:cNvPr id="3" name="Text 1"/>
          <p:cNvSpPr/>
          <p:nvPr/>
        </p:nvSpPr>
        <p:spPr>
          <a:xfrm>
            <a:off x="812800" y="110232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F5F3EC"/>
                </a:solidFill>
                <a:latin typeface="Kantumruy Pro" pitchFamily="34" charset="0"/>
                <a:ea typeface="Kantumruy Pro" pitchFamily="34" charset="-122"/>
                <a:cs typeface="Kantumruy Pro" pitchFamily="34" charset="-120"/>
              </a:rPr>
              <a:t>សាកល្បង ផ្ទាល់</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1796604"/>
        </p:xfrm>
        <a:graphic>
          <a:graphicData uri="http://schemas.openxmlformats.org/drawingml/2006/table">
            <a:tbl>
              <a:tblPr/>
              <a:tblGrid>
                <a:gridCol w="6754368"/>
                <a:gridCol w="3799332"/>
              </a:tblGrid>
              <a:tr h="359321">
                <a:tc>
                  <a:txBody>
                    <a:bodyPr/>
                    <a:lstStyle/>
                    <a:p>
                      <a:pPr indent="0" marL="0">
                        <a:lnSpc>
                          <a:spcPts val="1820"/>
                        </a:lnSpc>
                        <a:buNone/>
                      </a:pPr>
                      <a:r>
                        <a:rPr lang="en-US" sz="1300" b="1" dirty="0">
                          <a:solidFill>
                            <a:srgbClr val="F5F3EC"/>
                          </a:solidFill>
                          <a:latin typeface="Kantumruy Pro" pitchFamily="34" charset="0"/>
                          <a:ea typeface="Kantumruy Pro" pitchFamily="34" charset="-122"/>
                          <a:cs typeface="Kantumruy Pro" pitchFamily="34" charset="-120"/>
                        </a:rPr>
                        <a:t>Request</a:t>
                      </a:r>
                      <a:endParaRPr lang="en-US" sz="1300" dirty="0">
                        <a:latin typeface="Kantumruy Pro" charset="0"/>
                        <a:ea typeface="Kantumruy Pro" charset="0"/>
                        <a:cs typeface="Kantumruy Pro" charset="0"/>
                      </a:endParaRPr>
                    </a:p>
                  </a:txBody>
                  <a:tcPr marL="57785" marR="57785" marT="57785" marB="57785" anchor="t">
                    <a:lnL w="12700" cap="flat" cmpd="sng" algn="ctr">
                      <a:solidFill>
                        <a:srgbClr val="46505A"/>
                      </a:solidFill>
                      <a:prstDash val="solid"/>
                      <a:round/>
                      <a:headEnd type="none" w="med" len="med"/>
                      <a:tailEnd type="none" w="med" len="med"/>
                    </a:lnL>
                    <a:lnR w="12700" cap="flat" cmpd="sng" algn="ctr">
                      <a:solidFill>
                        <a:srgbClr val="4F5D6B"/>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F5D6B"/>
                      </a:solidFill>
                      <a:prstDash val="solid"/>
                      <a:round/>
                      <a:headEnd type="none" w="med" len="med"/>
                      <a:tailEnd type="none" w="med" len="med"/>
                    </a:lnB>
                    <a:solidFill>
                      <a:srgbClr val="1F3144"/>
                    </a:solidFill>
                  </a:tcPr>
                </a:tc>
                <a:tc>
                  <a:txBody>
                    <a:bodyPr/>
                    <a:lstStyle/>
                    <a:p>
                      <a:pPr indent="0" marL="0">
                        <a:lnSpc>
                          <a:spcPts val="1820"/>
                        </a:lnSpc>
                        <a:buNone/>
                      </a:pPr>
                      <a:r>
                        <a:rPr lang="en-US" sz="1300" b="1" dirty="0">
                          <a:solidFill>
                            <a:srgbClr val="F5F3EC"/>
                          </a:solidFill>
                          <a:latin typeface="Kantumruy Pro" pitchFamily="34" charset="0"/>
                          <a:ea typeface="Kantumruy Pro" pitchFamily="34" charset="-122"/>
                          <a:cs typeface="Kantumruy Pro" pitchFamily="34" charset="-120"/>
                        </a:rPr>
                        <a:t>លទ្ធផល</a:t>
                      </a:r>
                      <a:endParaRPr lang="en-US" sz="1300" dirty="0">
                        <a:latin typeface="Kantumruy Pro" charset="0"/>
                        <a:ea typeface="Kantumruy Pro" charset="0"/>
                        <a:cs typeface="Kantumruy Pro" charset="0"/>
                      </a:endParaRPr>
                    </a:p>
                  </a:txBody>
                  <a:tcPr marL="57785" marR="57785" marT="57785" marB="57785" anchor="t">
                    <a:lnL w="12700" cap="flat" cmpd="sng" algn="ctr">
                      <a:solidFill>
                        <a:srgbClr val="4F5D6B"/>
                      </a:solidFill>
                      <a:prstDash val="solid"/>
                      <a:round/>
                      <a:headEnd type="none" w="med" len="med"/>
                      <a:tailEnd type="none" w="med" len="med"/>
                    </a:lnL>
                    <a:lnR w="12700" cap="flat" cmpd="sng" algn="ctr">
                      <a:solidFill>
                        <a:srgbClr val="4F5D6B"/>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F5D6B"/>
                      </a:solidFill>
                      <a:prstDash val="solid"/>
                      <a:round/>
                      <a:headEnd type="none" w="med" len="med"/>
                      <a:tailEnd type="none" w="med" len="med"/>
                    </a:lnB>
                    <a:solidFill>
                      <a:srgbClr val="1F3144"/>
                    </a:solidFill>
                  </a:tcPr>
                </a:tc>
              </a:tr>
              <a:tr h="359321">
                <a:tc>
                  <a:txBody>
                    <a:bodyPr/>
                    <a:lstStyle/>
                    <a:p>
                      <a:pPr indent="0" marL="0">
                        <a:lnSpc>
                          <a:spcPts val="1820"/>
                        </a:lnSpc>
                        <a:buNone/>
                      </a:pPr>
                      <a:r>
                        <a:rPr lang="en-US" sz="1300" dirty="0">
                          <a:solidFill>
                            <a:srgbClr val="F5F3EC"/>
                          </a:solidFill>
                          <a:latin typeface="Kantumruy Pro" pitchFamily="34" charset="0"/>
                          <a:ea typeface="Kantumruy Pro" pitchFamily="34" charset="-122"/>
                          <a:cs typeface="Kantumruy Pro" pitchFamily="34" charset="-120"/>
                        </a:rPr>
                        <a:t>alice · POST /api/bookings {"eventId":1,"quantity":2,"price":0.01}</a:t>
                      </a:r>
                      <a:endParaRPr lang="en-US" sz="1300" dirty="0">
                        <a:latin typeface="Kantumruy Pro" charset="0"/>
                        <a:ea typeface="Kantumruy Pro" charset="0"/>
                        <a:cs typeface="Kantumruy Pro" charset="0"/>
                      </a:endParaRPr>
                    </a:p>
                  </a:txBody>
                  <a:tcPr marL="57785" marR="57785" marT="57785" marB="5778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F5D6B"/>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indent="0" marL="0">
                        <a:lnSpc>
                          <a:spcPts val="1820"/>
                        </a:lnSpc>
                        <a:buNone/>
                      </a:pPr>
                      <a:r>
                        <a:rPr lang="en-US" sz="1300" dirty="0">
                          <a:solidFill>
                            <a:srgbClr val="F0A04B"/>
                          </a:solidFill>
                          <a:latin typeface="Kantumruy Pro" pitchFamily="34" charset="0"/>
                          <a:ea typeface="Kantumruy Pro" pitchFamily="34" charset="-122"/>
                          <a:cs typeface="Kantumruy Pro" pitchFamily="34" charset="-120"/>
                        </a:rPr>
                        <a:t>201 · totalPrice 50.00 (R4)</a:t>
                      </a:r>
                      <a:endParaRPr lang="en-US" sz="1300" dirty="0">
                        <a:latin typeface="Kantumruy Pro" charset="0"/>
                        <a:ea typeface="Kantumruy Pro" charset="0"/>
                        <a:cs typeface="Kantumruy Pro" charset="0"/>
                      </a:endParaRPr>
                    </a:p>
                  </a:txBody>
                  <a:tcPr marL="57785" marR="57785" marT="57785" marB="5778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F5D6B"/>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r>
              <a:tr h="359321">
                <a:tc>
                  <a:txBody>
                    <a:bodyPr/>
                    <a:lstStyle/>
                    <a:p>
                      <a:pPr indent="0" marL="0">
                        <a:lnSpc>
                          <a:spcPts val="1820"/>
                        </a:lnSpc>
                        <a:buNone/>
                      </a:pPr>
                      <a:r>
                        <a:rPr lang="en-US" sz="1300" dirty="0">
                          <a:solidFill>
                            <a:srgbClr val="F5F3EC"/>
                          </a:solidFill>
                          <a:latin typeface="Kantumruy Pro" pitchFamily="34" charset="0"/>
                          <a:ea typeface="Kantumruy Pro" pitchFamily="34" charset="-122"/>
                          <a:cs typeface="Kantumruy Pro" pitchFamily="34" charset="-120"/>
                        </a:rPr>
                        <a:t>alice · POST /api/bookings {"eventId":2,"quantity":1}</a:t>
                      </a:r>
                      <a:endParaRPr lang="en-US" sz="1300" dirty="0">
                        <a:latin typeface="Kantumruy Pro" charset="0"/>
                        <a:ea typeface="Kantumruy Pro" charset="0"/>
                        <a:cs typeface="Kantumruy Pro" charset="0"/>
                      </a:endParaRPr>
                    </a:p>
                  </a:txBody>
                  <a:tcPr marL="57785" marR="57785" marT="57785" marB="5778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indent="0" marL="0">
                        <a:lnSpc>
                          <a:spcPts val="1820"/>
                        </a:lnSpc>
                        <a:buNone/>
                      </a:pPr>
                      <a:r>
                        <a:rPr lang="en-US" sz="1300" dirty="0">
                          <a:solidFill>
                            <a:srgbClr val="F0A04B"/>
                          </a:solidFill>
                          <a:latin typeface="Kantumruy Pro" pitchFamily="34" charset="0"/>
                          <a:ea typeface="Kantumruy Pro" pitchFamily="34" charset="-122"/>
                          <a:cs typeface="Kantumruy Pro" pitchFamily="34" charset="-120"/>
                        </a:rPr>
                        <a:t>409 · event CANCELLED (R5)</a:t>
                      </a:r>
                      <a:endParaRPr lang="en-US" sz="1300" dirty="0">
                        <a:latin typeface="Kantumruy Pro" charset="0"/>
                        <a:ea typeface="Kantumruy Pro" charset="0"/>
                        <a:cs typeface="Kantumruy Pro" charset="0"/>
                      </a:endParaRPr>
                    </a:p>
                  </a:txBody>
                  <a:tcPr marL="57785" marR="57785" marT="57785" marB="5778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r>
              <a:tr h="359321">
                <a:tc>
                  <a:txBody>
                    <a:bodyPr/>
                    <a:lstStyle/>
                    <a:p>
                      <a:pPr indent="0" marL="0">
                        <a:lnSpc>
                          <a:spcPts val="1820"/>
                        </a:lnSpc>
                        <a:buNone/>
                      </a:pPr>
                      <a:r>
                        <a:rPr lang="en-US" sz="1300" dirty="0">
                          <a:solidFill>
                            <a:srgbClr val="F5F3EC"/>
                          </a:solidFill>
                          <a:latin typeface="Kantumruy Pro" pitchFamily="34" charset="0"/>
                          <a:ea typeface="Kantumruy Pro" pitchFamily="34" charset="-122"/>
                          <a:cs typeface="Kantumruy Pro" pitchFamily="34" charset="-120"/>
                        </a:rPr>
                        <a:t>alice · POST /api/bookings {"eventId":1,"quantity":5}</a:t>
                      </a:r>
                      <a:endParaRPr lang="en-US" sz="1300" dirty="0">
                        <a:latin typeface="Kantumruy Pro" charset="0"/>
                        <a:ea typeface="Kantumruy Pro" charset="0"/>
                        <a:cs typeface="Kantumruy Pro" charset="0"/>
                      </a:endParaRPr>
                    </a:p>
                  </a:txBody>
                  <a:tcPr marL="57785" marR="57785" marT="57785" marB="5778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indent="0" marL="0">
                        <a:lnSpc>
                          <a:spcPts val="1820"/>
                        </a:lnSpc>
                        <a:buNone/>
                      </a:pPr>
                      <a:r>
                        <a:rPr lang="en-US" sz="1300" dirty="0">
                          <a:solidFill>
                            <a:srgbClr val="F0A04B"/>
                          </a:solidFill>
                          <a:latin typeface="Kantumruy Pro" pitchFamily="34" charset="0"/>
                          <a:ea typeface="Kantumruy Pro" pitchFamily="34" charset="-122"/>
                          <a:cs typeface="Kantumruy Pro" pitchFamily="34" charset="-120"/>
                        </a:rPr>
                        <a:t>400 · quantity &gt; 4 (R3)</a:t>
                      </a:r>
                      <a:endParaRPr lang="en-US" sz="1300" dirty="0">
                        <a:latin typeface="Kantumruy Pro" charset="0"/>
                        <a:ea typeface="Kantumruy Pro" charset="0"/>
                        <a:cs typeface="Kantumruy Pro" charset="0"/>
                      </a:endParaRPr>
                    </a:p>
                  </a:txBody>
                  <a:tcPr marL="57785" marR="57785" marT="57785" marB="5778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r>
              <a:tr h="359321">
                <a:tc>
                  <a:txBody>
                    <a:bodyPr/>
                    <a:lstStyle/>
                    <a:p>
                      <a:pPr indent="0" marL="0">
                        <a:lnSpc>
                          <a:spcPts val="1820"/>
                        </a:lnSpc>
                        <a:buNone/>
                      </a:pPr>
                      <a:r>
                        <a:rPr lang="en-US" sz="1300" dirty="0">
                          <a:solidFill>
                            <a:srgbClr val="F5F3EC"/>
                          </a:solidFill>
                          <a:latin typeface="Kantumruy Pro" pitchFamily="34" charset="0"/>
                          <a:ea typeface="Kantumruy Pro" pitchFamily="34" charset="-122"/>
                          <a:cs typeface="Kantumruy Pro" pitchFamily="34" charset="-120"/>
                        </a:rPr>
                        <a:t>bob · GET /api/bookings/1</a:t>
                      </a:r>
                      <a:endParaRPr lang="en-US" sz="1300" dirty="0">
                        <a:latin typeface="Kantumruy Pro" charset="0"/>
                        <a:ea typeface="Kantumruy Pro" charset="0"/>
                        <a:cs typeface="Kantumruy Pro" charset="0"/>
                      </a:endParaRPr>
                    </a:p>
                  </a:txBody>
                  <a:tcPr marL="57785" marR="57785" marT="57785" marB="5778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c>
                  <a:txBody>
                    <a:bodyPr/>
                    <a:lstStyle/>
                    <a:p>
                      <a:pPr indent="0" marL="0">
                        <a:lnSpc>
                          <a:spcPts val="1820"/>
                        </a:lnSpc>
                        <a:buNone/>
                      </a:pPr>
                      <a:r>
                        <a:rPr lang="en-US" sz="1300" dirty="0">
                          <a:solidFill>
                            <a:srgbClr val="F0A04B"/>
                          </a:solidFill>
                          <a:latin typeface="Kantumruy Pro" pitchFamily="34" charset="0"/>
                          <a:ea typeface="Kantumruy Pro" pitchFamily="34" charset="-122"/>
                          <a:cs typeface="Kantumruy Pro" pitchFamily="34" charset="-120"/>
                        </a:rPr>
                        <a:t>403 · មិនមែនម្ចាស់ (R6)</a:t>
                      </a:r>
                      <a:endParaRPr lang="en-US" sz="1300" dirty="0">
                        <a:latin typeface="Kantumruy Pro" charset="0"/>
                        <a:ea typeface="Kantumruy Pro" charset="0"/>
                        <a:cs typeface="Kantumruy Pro" charset="0"/>
                      </a:endParaRPr>
                    </a:p>
                  </a:txBody>
                  <a:tcPr marL="57785" marR="57785" marT="57785" marB="57785" anchor="t">
                    <a:lnL w="12700" cap="flat" cmpd="sng" algn="ctr">
                      <a:solidFill>
                        <a:srgbClr val="46505A"/>
                      </a:solidFill>
                      <a:prstDash val="solid"/>
                      <a:round/>
                      <a:headEnd type="none" w="med" len="med"/>
                      <a:tailEnd type="none" w="med" len="med"/>
                    </a:lnL>
                    <a:lnR w="12700" cap="flat" cmpd="sng" algn="ctr">
                      <a:solidFill>
                        <a:srgbClr val="46505A"/>
                      </a:solidFill>
                      <a:prstDash val="solid"/>
                      <a:round/>
                      <a:headEnd type="none" w="med" len="med"/>
                      <a:tailEnd type="none" w="med" len="med"/>
                    </a:lnR>
                    <a:lnT w="12700" cap="flat" cmpd="sng" algn="ctr">
                      <a:solidFill>
                        <a:srgbClr val="46505A"/>
                      </a:solidFill>
                      <a:prstDash val="solid"/>
                      <a:round/>
                      <a:headEnd type="none" w="med" len="med"/>
                      <a:tailEnd type="none" w="med" len="med"/>
                    </a:lnT>
                    <a:lnB w="12700" cap="flat" cmpd="sng" algn="ctr">
                      <a:solidFill>
                        <a:srgbClr val="46505A"/>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Kantumruy Pro" pitchFamily="34" charset="0"/>
                <a:ea typeface="Kantumruy Pro" pitchFamily="34" charset="-122"/>
                <a:cs typeface="Kantumruy Pro" pitchFamily="34" charset="-120"/>
              </a:rPr>
              <a:t>Source: github.com/NemSothea/event-tickets-api · ./gradlew test → 20 tests ជាប់</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2466330"/>
            <a:ext cx="10883392" cy="1016000"/>
          </a:xfrm>
          <a:prstGeom prst="rect">
            <a:avLst/>
          </a:prstGeom>
          <a:noFill/>
          <a:ln/>
        </p:spPr>
        <p:txBody>
          <a:bodyPr wrap="square" lIns="0" tIns="0" rIns="0" bIns="0" rtlCol="0" anchor="t">
            <a:normAutofit/>
          </a:bodyPr>
          <a:lstStyle/>
          <a:p>
            <a:pPr algn="l" indent="0" marL="0">
              <a:lnSpc>
                <a:spcPts val="7800"/>
              </a:lnSpc>
              <a:buNone/>
            </a:pPr>
            <a:r>
              <a:rPr lang="en-US" sz="6000" b="1" dirty="0">
                <a:solidFill>
                  <a:srgbClr val="F5F3EC"/>
                </a:solidFill>
                <a:latin typeface="Kantumruy Pro" pitchFamily="34" charset="0"/>
                <a:ea typeface="Kantumruy Pro" pitchFamily="34" charset="-122"/>
                <a:cs typeface="Kantumruy Pro" pitchFamily="34" charset="-120"/>
              </a:rPr>
              <a:t>សូមអរគុណ</a:t>
            </a:r>
            <a:endParaRPr lang="en-US" sz="6000" dirty="0"/>
          </a:p>
        </p:txBody>
      </p:sp>
      <p:sp>
        <p:nvSpPr>
          <p:cNvPr id="3" name="Text 1"/>
          <p:cNvSpPr/>
          <p:nvPr/>
        </p:nvSpPr>
        <p:spPr>
          <a:xfrm>
            <a:off x="812800" y="3660130"/>
            <a:ext cx="10883392" cy="553690"/>
          </a:xfrm>
          <a:prstGeom prst="rect">
            <a:avLst/>
          </a:prstGeom>
          <a:noFill/>
          <a:ln/>
        </p:spPr>
        <p:txBody>
          <a:bodyPr wrap="square" lIns="0" tIns="0" rIns="0" bIns="0" rtlCol="0" anchor="t">
            <a:normAutofit/>
          </a:bodyPr>
          <a:lstStyle/>
          <a:p>
            <a:pPr algn="l" indent="0" marL="0">
              <a:lnSpc>
                <a:spcPts val="4160"/>
              </a:lnSpc>
              <a:buNone/>
            </a:pPr>
            <a:r>
              <a:rPr lang="en-US" sz="3200" b="1" dirty="0">
                <a:solidFill>
                  <a:srgbClr val="F0A04B"/>
                </a:solidFill>
                <a:latin typeface="Kantumruy Pro" pitchFamily="34" charset="0"/>
                <a:ea typeface="Kantumruy Pro" pitchFamily="34" charset="-122"/>
                <a:cs typeface="Kantumruy Pro" pitchFamily="34" charset="-120"/>
              </a:rPr>
              <a:t>សំណួរ?</a:t>
            </a:r>
            <a:endParaRPr lang="en-US" sz="3200" dirty="0"/>
          </a:p>
        </p:txBody>
      </p:sp>
      <p:sp>
        <p:nvSpPr>
          <p:cNvPr id="4"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Kantumruy Pro" pitchFamily="34" charset="0"/>
                <a:ea typeface="Kantumruy Pro" pitchFamily="34" charset="-122"/>
                <a:cs typeface="Kantumruy Pro" pitchFamily="34" charset="-120"/>
              </a:rPr>
              <a:t>Sothea · github.com/NemSothea/event-tickets-api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Tickets API Defense</dc:title>
  <dc:subject>PptxGenJS Presentation</dc:subject>
  <dc:creator>PptxGenJS</dc:creator>
  <cp:lastModifiedBy>PptxGenJS</cp:lastModifiedBy>
  <cp:revision>1</cp:revision>
  <dcterms:created xsi:type="dcterms:W3CDTF">2026-09-29T09:50:26Z</dcterms:created>
  <dcterms:modified xsi:type="dcterms:W3CDTF">2026-09-29T09:50:26Z</dcterms:modified>
</cp:coreProperties>
</file>