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ជំរាបសួរ។ ថ្ងៃនេះ ខ្ញុំនឹងបង្ហាញ Event Tickets API — ជា REST API សម្រាប់កក់សំបុត្រព្រឹត្តិការណ៍។ ខ្ញុំនឹងពន្យល់ ច្បាប់អាជីវកម្មទាំង ៦ របៀបរចនា និងភស្តុតាងតាមរយៈ tests។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នេះជាច្បាប់ ៦ ពីកិច្ចការផ្ទះ។ ច្បាប់ 1 និង 2 ទាក់ទងនឹងកៅអី — សំខាន់បំផុត ព្រោះមានបញ្ហា race condition។ ច្បាប់ 3 គឺ validation។ ច្បាប់ 4 គឺសុវត្ថិភាពតម្លៃ។ ច្បាប់ 5 គឺស្ថានភាព event។ ច្បាប់ 6 គឺភាពជាម្ចាស់។ ច្បាប់នីមួយៗ មាន HTTP status code ច្បាស់លាស់។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ខ្ញុំជ្រើស Spring Boot ព្រោះវាមាន Web, JPA, Security និង Validation រួចស្រេច។ H2 ជា database in-memory — មិនចាំបាច់ install អ្វីទាំងអស់ ងាយស្រួលសម្រាប់ homework។ Gradle wrapper ធ្វើឲ្យអ្នកណាក៏អាច build បាន ដោយមិនចាំបាច់ install Gradle។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ចូលតាម Security មុន — ពិនិត្យ login និង role។ បន្ទាប់មក Controller អាន JSON និងផ្ទៀងផ្ទាត់ input។ Service ជាកន្លែងច្បាប់អាជីវកម្មទាំងអស់។ Repository សរសេរ SQL។ Controller មិនដឹងអំពី SQL ហើយ Repository មិនដឹងអំពី HTTP។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មាន endpoint ៧។ មើល events គឺ public។ បោះបង់ event គឺសម្រាប់ ADMIN។ ការកក់ទាំងអស់ សម្រាប់ CUSTOMER ហើយមើល ឬបោះបង់ booking បានតែម្ចាស់ប៉ុណ្ណោះ។ Error ទាំងអស់ ត្រឡប់ជា JSON ProblemDetail។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នេះជា "When" — ពេលណា error នីមួយៗ កើតឡើង។ យើងពិនិត្យ login មុន បន្ទាប់មក role បន្ទាប់មក input។ មានតែពេលទាំងអស់ត្រឹមត្រូវ ទើបយើងប៉ះ database។ ជំហានទី 4 ជាចំណុចសំខាន់បំផុត — ខ្ញុំនឹងពន្យល់នៅ slide បន្ទាប់។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នេះជាបញ្ហាសំខាន់បំផុតនៃ homework។ បើយើងអានចំនួនកៅអីសិន រួចសរសេរតាមក្រោយ អ្នកប្រើពីរនាក់ ដែលមកក្នុងពេលតែមួយ អាចអានឃើញ "នៅសល់ 1" ទាំងពីរនាក់។ ទាំងពីរនាក់ ក៏កក់បាន — លក់លើសកៅអី។ នេះហៅថា race condition។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ដំណោះស្រាយ៖ ប្រើ SQL UPDATE តែមួយ។ លក្ខខណ្ឌ WHERE ជាការពិនិត្យ ហើយ SET ជាការសរសេរ។ Database lock row នោះ ដូច្នេះអ្នកប្រើទីពីរ ត្រូវរង់ចាំ ហើយពេលពិនិត្យម្តងទៀត ឃើញថា 0 កៅអី — បរាជ័យ។ UPDATE ត្រឡប់ចំនួន row ដែលបានកែ៖ 1 គឺជោគជ័យ 0 គឺយើង reload event ដើម្បីជ្រើស 404 ឬ 409។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R2៖ បោះបង់ booking និងប្រគល់កៅអី ក្នុង transaction តែមួយ ហើយ lock row ដើម្បីកុំឲ្យប្រគល់កៅអីពីរដង។ R3៖ Bean Validation។ R4៖ request គ្មានកន្លែងដាក់តម្លៃទេ — បើ hacker ផ្ញើ price 0.01 វាត្រូវបានមិនអើពើ។ ប្រើ BigDecimal ព្រោះ double មានកំហុសលុយ។ R6៖ username មកពី login តែប៉ុណ្ណោះ ការពារ IDOR។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 បោះ exception ធម្មតា ហើយ GlobalExceptionHandler តែមួយ បម្លែងវាទៅជា JSON។ ដូច្នេះ Service ស្អាត គ្មាន HTTP code ហើយ frontend ងាយស្រួល handle error។ Security មានពីរស្រទាប់៖ role ពិនិត្យដោយ Spring Security ហើយភាពជាម្ចាស់ ពិនិត្យដោយ Service។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នីមួយៗ ក្នុង DESIGN.md មាន test មួយ ដូចជា៖ event មាន 3 កៅអី alice កក់ 4 → 409 ហើយកៅអីនៅតែ 3។ Test សំខាន់បំផុត គឺ concurrency test៖ server ពិតប្រាកដ event មាន 1 កៅអី threads 10 ផ្ញើ request ព្រមគ្នា។ លទ្ធផល៖ ម្នាក់ជោគជ័យ ៩ នាក់ទទួល 409 ហើយកៅអីនៅសល់ 0។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សរុបមក ខ្ញុំរៀនបាន ៣ យ៉ាង។ ទីមួយ កុំជឿ client — តម្លៃ និងអត្តសញ្ញាណ ត្រូវមកពី server។ ទីពីរ ពិនិត្យ និងសរសេរ ត្រូវតែជាជំហានតែមួយ បើមិនដូច្នេះ អ្នកប្រើច្រើននាក់ អាចលក់លើសកៅអី។ ទីបី transaction ធ្វើឲ្យការផ្លាស់ប្តូរច្រើន ជោគជ័យទាំងអស់ ឬត្រឡប់វិញទាំងអស់។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ឥឡូវ ខ្ញុំនឹងបង្ហាញផ្ទាល់។ ទីមួយ alice ផ្ញើ price 0.01 — server មិនអើពើ ហើយគិត 50.00។ ទីពីរ កក់ event ដែលបានបោះបង់ → 409។ ទីបី quantity 5 → 400។ ទីបួន bob មើល booking របស់ alice → 403។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សូមអរគុណ ចំពោះការស្តាប់។ សំណួរដែលអាចមាន៖ ហេតុអ្វីមិនប្រើ synchronized? — ព្រោះវាដំណើរការតែក្នុង server មួយ ចំណែក database lock ដំណើរការ ទោះមាន server ច្រើន។ ហេតុអ្វីមិនប្រើ optimistic lock (@Version)? — វាក៏អាចប្រើបាន ប៉ុន្តែត្រូវ retry ពេល conflict ចំណែក conditional UPDATE សាមញ្ញជាង។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2344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0A04B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HOMEWORK · EVENT TICKETS API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4000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Event Tickets API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581400"/>
            <a:ext cx="1088339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C9D3D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កិច្ចការផ្ទះ — ប្រព័ន្ធកក់សំបុត្រ ព្រឹត្តិការណ៍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12800" y="4165600"/>
            <a:ext cx="1676400" cy="365760"/>
          </a:xfrm>
          <a:prstGeom prst="roundRect">
            <a:avLst>
              <a:gd name="adj" fmla="val 50000"/>
            </a:avLst>
          </a:prstGeom>
          <a:solidFill>
            <a:srgbClr val="1F3144"/>
          </a:solidFill>
          <a:ln/>
        </p:spPr>
      </p:sp>
      <p:sp>
        <p:nvSpPr>
          <p:cNvPr id="6" name="Text 4"/>
          <p:cNvSpPr/>
          <p:nvPr/>
        </p:nvSpPr>
        <p:spPr>
          <a:xfrm>
            <a:off x="965200" y="4241800"/>
            <a:ext cx="14224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Spring Boot 3.5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90800" y="4165600"/>
            <a:ext cx="944880" cy="365760"/>
          </a:xfrm>
          <a:prstGeom prst="roundRect">
            <a:avLst>
              <a:gd name="adj" fmla="val 50000"/>
            </a:avLst>
          </a:prstGeom>
          <a:solidFill>
            <a:srgbClr val="1F314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4241800"/>
            <a:ext cx="69088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Java 21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37280" y="4165600"/>
            <a:ext cx="853440" cy="365760"/>
          </a:xfrm>
          <a:prstGeom prst="roundRect">
            <a:avLst>
              <a:gd name="adj" fmla="val 50000"/>
            </a:avLst>
          </a:prstGeom>
          <a:solidFill>
            <a:srgbClr val="1F3144"/>
          </a:solidFill>
          <a:ln/>
        </p:spPr>
      </p:sp>
      <p:sp>
        <p:nvSpPr>
          <p:cNvPr id="10" name="Text 8"/>
          <p:cNvSpPr/>
          <p:nvPr/>
        </p:nvSpPr>
        <p:spPr>
          <a:xfrm>
            <a:off x="3789680" y="4241800"/>
            <a:ext cx="59944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Gradle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92320" y="4165600"/>
            <a:ext cx="1036320" cy="365760"/>
          </a:xfrm>
          <a:prstGeom prst="roundRect">
            <a:avLst>
              <a:gd name="adj" fmla="val 50000"/>
            </a:avLst>
          </a:prstGeom>
          <a:solidFill>
            <a:srgbClr val="1F3144"/>
          </a:solidFill>
          <a:ln/>
        </p:spPr>
      </p:sp>
      <p:sp>
        <p:nvSpPr>
          <p:cNvPr id="12" name="Text 10"/>
          <p:cNvSpPr/>
          <p:nvPr/>
        </p:nvSpPr>
        <p:spPr>
          <a:xfrm>
            <a:off x="4744720" y="4241800"/>
            <a:ext cx="7823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H2 + JPA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4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D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Sothea · github.com/NemSothea/event-tickets-api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បញ្ហា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0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ច្បាប់អាជីវកម្ម ទាំង 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8655"/>
            <a:ext cx="3380303" cy="1677670"/>
          </a:xfrm>
          <a:prstGeom prst="roundRect">
            <a:avLst>
              <a:gd name="adj" fmla="val 5867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143760"/>
            <a:ext cx="305919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21080" y="2433320"/>
            <a:ext cx="30591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មិនលក់ លើសកៅអី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21080" y="2839720"/>
            <a:ext cx="3059196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កក់លើស កៅអីដែលនៅសល់ → 409 Conflict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5828" y="1938655"/>
            <a:ext cx="3380303" cy="1677670"/>
          </a:xfrm>
          <a:prstGeom prst="roundRect">
            <a:avLst>
              <a:gd name="adj" fmla="val 5867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0934" y="2143760"/>
            <a:ext cx="305919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0934" y="2433320"/>
            <a:ext cx="30591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កៅអី ត្រឹមត្រូវជានិច្ច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10934" y="2839720"/>
            <a:ext cx="3059196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កក់ → កាត់កៅអី។ បោះបង់ → ប្រគល់កៅអី វិញ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95682" y="1938655"/>
            <a:ext cx="3380343" cy="1677670"/>
          </a:xfrm>
          <a:prstGeom prst="roundRect">
            <a:avLst>
              <a:gd name="adj" fmla="val 5867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0787" y="2143760"/>
            <a:ext cx="305923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00787" y="2433320"/>
            <a:ext cx="305923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អតិបរមា ៤ សំបុត្រ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00787" y="2839720"/>
            <a:ext cx="3059237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quantity ពី 1 ដល់ 4 បើមិនដូច្នេះ → 400 Bad Request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15975" y="3825875"/>
            <a:ext cx="3380303" cy="2007870"/>
          </a:xfrm>
          <a:prstGeom prst="roundRect">
            <a:avLst>
              <a:gd name="adj" fmla="val 4902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1080" y="4030980"/>
            <a:ext cx="305919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1080" y="4320540"/>
            <a:ext cx="30591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តម្លៃ មកពី server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21080" y="4726940"/>
            <a:ext cx="3059196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សរុប = តម្លៃ × ចំនួន។ មិនជឿ តម្លៃពី client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405828" y="3825875"/>
            <a:ext cx="3380303" cy="2007870"/>
          </a:xfrm>
          <a:prstGeom prst="roundRect">
            <a:avLst>
              <a:gd name="adj" fmla="val 4902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0934" y="4030980"/>
            <a:ext cx="305919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10934" y="4320540"/>
            <a:ext cx="30591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មិនកក់ event ដែលបានបោះបង់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10934" y="5057140"/>
            <a:ext cx="3059196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status CANCELLED → 409 Conflict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995682" y="3825875"/>
            <a:ext cx="3380343" cy="2007870"/>
          </a:xfrm>
          <a:prstGeom prst="roundRect">
            <a:avLst>
              <a:gd name="adj" fmla="val 4902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00787" y="4030980"/>
            <a:ext cx="305923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00787" y="4320540"/>
            <a:ext cx="305923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តែការកក់ របស់ខ្លួន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200787" y="4726940"/>
            <a:ext cx="3059237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មើល ឬបោះបង់ តែរបស់ខ្លួន បើមិនដូច្នេះ → 403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បញ្ហា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1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បច្ចេកវិទ្យា ដែលបានប្រើ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48180"/>
          <a:ext cx="10553700" cy="3302000"/>
        </p:xfrm>
        <a:graphic>
          <a:graphicData uri="http://schemas.openxmlformats.org/drawingml/2006/table">
            <a:tbl>
              <a:tblPr/>
              <a:tblGrid>
                <a:gridCol w="3693795"/>
                <a:gridCol w="6859905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បច្ចេកវិទ្យា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តួនាទី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Spring Boot 3.5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Web framework សម្រាប់ REST API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Java 21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ភាសា — record, text block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Gradle 8.14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Build tool (Kotlin DSL) + wrapper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Spring Data JPA + H2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មូលដ្ឋានទិន្នន័យ in-memory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Spring Security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HTTP Basic login និង role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Bean Validation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ផ្ទៀងផ្ទាត់ input (quantity 1–4)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JUnit 5 + MockMvc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Tests — 19 scenarios + concurrency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ការរចនា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1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រចនាសម្ព័ន្ធ ជាស្រទាប់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040255"/>
            <a:ext cx="1741170" cy="1379220"/>
          </a:xfrm>
          <a:prstGeom prst="roundRect">
            <a:avLst>
              <a:gd name="adj" fmla="val 7136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0280" y="2194561"/>
            <a:ext cx="14833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Security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70280" y="2518411"/>
            <a:ext cx="148336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អ្នកជានរណា? មានសិទ្ធិទេ?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0280" y="3051811"/>
            <a:ext cx="14833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401 · 403</a:t>
            </a:r>
            <a:endParaRPr lang="en-US" sz="1200" dirty="0"/>
          </a:p>
        </p:txBody>
      </p:sp>
      <p:pic>
        <p:nvPicPr>
          <p:cNvPr id="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61920" y="2691766"/>
            <a:ext cx="254000" cy="76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20695" y="2040255"/>
            <a:ext cx="1741170" cy="1379220"/>
          </a:xfrm>
          <a:prstGeom prst="roundRect">
            <a:avLst>
              <a:gd name="adj" fmla="val 7136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175000" y="2194561"/>
            <a:ext cx="14833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Controller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75000" y="2518411"/>
            <a:ext cx="148336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អាន JSON ផ្ទៀងផ្ទាត់ input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175000" y="3051811"/>
            <a:ext cx="14833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400</a:t>
            </a:r>
            <a:endParaRPr lang="en-US" sz="1200" dirty="0"/>
          </a:p>
        </p:txBody>
      </p:sp>
      <p:pic>
        <p:nvPicPr>
          <p:cNvPr id="13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66640" y="2691766"/>
            <a:ext cx="254000" cy="7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225415" y="2154555"/>
            <a:ext cx="1741170" cy="1150620"/>
          </a:xfrm>
          <a:prstGeom prst="roundRect">
            <a:avLst>
              <a:gd name="adj" fmla="val 8554"/>
            </a:avLst>
          </a:prstGeom>
          <a:solidFill>
            <a:srgbClr val="13202E"/>
          </a:solidFill>
          <a:ln w="6350">
            <a:solidFill>
              <a:srgbClr val="13202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79720" y="2308861"/>
            <a:ext cx="14833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Service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379720" y="2632711"/>
            <a:ext cx="14833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D3D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ច្បាប់ អាជីវកម្ម ទាំងអស់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379720" y="2937511"/>
            <a:ext cx="14833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0A0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404·403·409</a:t>
            </a:r>
            <a:endParaRPr lang="en-US" sz="1200" dirty="0"/>
          </a:p>
        </p:txBody>
      </p:sp>
      <p:pic>
        <p:nvPicPr>
          <p:cNvPr id="18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71360" y="2691766"/>
            <a:ext cx="254000" cy="762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430135" y="2154555"/>
            <a:ext cx="1741170" cy="1150620"/>
          </a:xfrm>
          <a:prstGeom prst="roundRect">
            <a:avLst>
              <a:gd name="adj" fmla="val 8554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584440" y="2308861"/>
            <a:ext cx="14833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Repository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584440" y="2632711"/>
            <a:ext cx="14833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SQL ទៅ database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584440" y="2937511"/>
            <a:ext cx="14833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JPA</a:t>
            </a:r>
            <a:endParaRPr lang="en-US" sz="1200" dirty="0"/>
          </a:p>
        </p:txBody>
      </p:sp>
      <p:pic>
        <p:nvPicPr>
          <p:cNvPr id="23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76080" y="2691766"/>
            <a:ext cx="254000" cy="7620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634855" y="2154555"/>
            <a:ext cx="1741170" cy="1150620"/>
          </a:xfrm>
          <a:prstGeom prst="roundRect">
            <a:avLst>
              <a:gd name="adj" fmla="val 8554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9789160" y="2308861"/>
            <a:ext cx="148336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H2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9789160" y="2632711"/>
            <a:ext cx="14833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ទិន្នន័យ in-memory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9789160" y="2937511"/>
            <a:ext cx="14833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DB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812800" y="3829050"/>
            <a:ext cx="1088339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ស្រទាប់នីមួយៗ មានការងារ </a:t>
            </a: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តែមួយ</a:t>
            </a:r>
            <a:r>
              <a:rPr lang="en-US" sz="20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— ងាយតេស្ត ងាយផ្លាស់ប្តូរ។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ការរចនា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1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Endpoints ទាំង ៧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48182"/>
          <a:ext cx="10553700" cy="3302000"/>
        </p:xfrm>
        <a:graphic>
          <a:graphicData uri="http://schemas.openxmlformats.org/drawingml/2006/table">
            <a:tbl>
              <a:tblPr/>
              <a:tblGrid>
                <a:gridCol w="1688592"/>
                <a:gridCol w="5276850"/>
                <a:gridCol w="3588258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Method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Path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អ្នកប្រើ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GET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/api/events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អ្នកណាក៏បាន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GET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/api/events/{id}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អ្នកណាក៏បាន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5601A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POST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/api/events/{id}/cancel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ADMIN តែប៉ុណ្ណោះ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5601A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POST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/api/bookings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CUSTOMER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GET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/api/bookings/me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CUSTOMER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GET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/api/bookings/{id}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ម្ចាស់ តែប៉ុណ្ណោះ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B5601A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POST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/api/bookings/{id}/cancel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ម្ចាស់ តែប៉ុណ្ណោះ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ការរចនា · POST /api/bookings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1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លំដាប់ នៃការពិនិត្យ ពេលកក់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353947"/>
            <a:ext cx="10566400" cy="0"/>
          </a:xfrm>
          <a:prstGeom prst="line">
            <a:avLst/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11682"/>
            <a:ext cx="355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70000" y="1975486"/>
            <a:ext cx="97113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Authentication — username និង password ត្រឹមត្រូវ?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850880" y="1960882"/>
            <a:ext cx="528320" cy="314960"/>
          </a:xfrm>
          <a:prstGeom prst="roundRect">
            <a:avLst>
              <a:gd name="adj" fmla="val 50000"/>
            </a:avLst>
          </a:prstGeom>
          <a:solidFill>
            <a:srgbClr val="13202E"/>
          </a:solidFill>
          <a:ln/>
        </p:spPr>
      </p:sp>
      <p:sp>
        <p:nvSpPr>
          <p:cNvPr id="8" name="Text 6"/>
          <p:cNvSpPr/>
          <p:nvPr/>
        </p:nvSpPr>
        <p:spPr>
          <a:xfrm>
            <a:off x="10977880" y="2011682"/>
            <a:ext cx="3251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800" y="2826386"/>
            <a:ext cx="10566400" cy="0"/>
          </a:xfrm>
          <a:prstGeom prst="line">
            <a:avLst/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2800" y="2484121"/>
            <a:ext cx="355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70000" y="2447925"/>
            <a:ext cx="97113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Role ជា CUSTOMER?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850880" y="2433321"/>
            <a:ext cx="528320" cy="314960"/>
          </a:xfrm>
          <a:prstGeom prst="roundRect">
            <a:avLst>
              <a:gd name="adj" fmla="val 50000"/>
            </a:avLst>
          </a:prstGeom>
          <a:solidFill>
            <a:srgbClr val="1320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7880" y="2484121"/>
            <a:ext cx="3251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800" y="3298826"/>
            <a:ext cx="10566400" cy="0"/>
          </a:xfrm>
          <a:prstGeom prst="line">
            <a:avLst/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2800" y="2956561"/>
            <a:ext cx="355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70000" y="2920364"/>
            <a:ext cx="97113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Validation — quantity ពី 1 ដល់ 4 មិនទទេ?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850880" y="2905761"/>
            <a:ext cx="528320" cy="314960"/>
          </a:xfrm>
          <a:prstGeom prst="roundRect">
            <a:avLst>
              <a:gd name="adj" fmla="val 50000"/>
            </a:avLst>
          </a:prstGeom>
          <a:solidFill>
            <a:srgbClr val="13202E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7880" y="2956561"/>
            <a:ext cx="3251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2800" y="3771265"/>
            <a:ext cx="10566400" cy="0"/>
          </a:xfrm>
          <a:prstGeom prst="line">
            <a:avLst/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2800" y="3429000"/>
            <a:ext cx="355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70000" y="3392807"/>
            <a:ext cx="91462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Atomic UPDATE — កាត់កៅអី ក្នុងជំហានតែមួយ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302240" y="3378200"/>
            <a:ext cx="1076960" cy="314960"/>
          </a:xfrm>
          <a:prstGeom prst="roundRect">
            <a:avLst>
              <a:gd name="adj" fmla="val 50000"/>
            </a:avLst>
          </a:prstGeom>
          <a:solidFill>
            <a:srgbClr val="13202E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9240" y="3429000"/>
            <a:ext cx="8737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404 · 409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243704"/>
            <a:ext cx="10566400" cy="0"/>
          </a:xfrm>
          <a:prstGeom prst="line">
            <a:avLst/>
          </a:prstGeom>
          <a:noFill/>
          <a:ln w="6350">
            <a:solidFill>
              <a:srgbClr val="E2DE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2800" y="3901439"/>
            <a:ext cx="355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70000" y="3865246"/>
            <a:ext cx="9899701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គណនាតម្លៃ ដោយ server — price × quantity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1033760" y="3850639"/>
            <a:ext cx="345440" cy="314960"/>
          </a:xfrm>
          <a:prstGeom prst="roundRect">
            <a:avLst>
              <a:gd name="adj" fmla="val 50000"/>
            </a:avLst>
          </a:prstGeom>
          <a:solidFill>
            <a:srgbClr val="13202E"/>
          </a:solidFill>
          <a:ln/>
        </p:spPr>
      </p:sp>
      <p:sp>
        <p:nvSpPr>
          <p:cNvPr id="28" name="Text 26"/>
          <p:cNvSpPr/>
          <p:nvPr/>
        </p:nvSpPr>
        <p:spPr>
          <a:xfrm>
            <a:off x="11160760" y="3901439"/>
            <a:ext cx="14224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2800" y="4373882"/>
            <a:ext cx="3556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E7A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70000" y="4337686"/>
            <a:ext cx="97113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រក្សាទុក booking ជា CONFIRMED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0850880" y="4323082"/>
            <a:ext cx="528320" cy="314960"/>
          </a:xfrm>
          <a:prstGeom prst="roundRect">
            <a:avLst>
              <a:gd name="adj" fmla="val 50000"/>
            </a:avLst>
          </a:prstGeom>
          <a:solidFill>
            <a:srgbClr val="2E7A3C"/>
          </a:solidFill>
          <a:ln/>
        </p:spPr>
      </p:sp>
      <p:sp>
        <p:nvSpPr>
          <p:cNvPr id="32" name="Text 30"/>
          <p:cNvSpPr/>
          <p:nvPr/>
        </p:nvSpPr>
        <p:spPr>
          <a:xfrm>
            <a:off x="10977880" y="4373882"/>
            <a:ext cx="3251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968239"/>
            <a:ext cx="10883392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ហេតុអ្វី លំដាប់នេះ?</a:t>
            </a: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ការពិនិត្យថោកៗ មុន — មិនប៉ះ database បើ password ខុស ឬ quantity = 7។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0A04B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ការរចនា · ច្បាប់ 1 និង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1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បញ្ហា Race Condition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33882"/>
            <a:ext cx="4406860" cy="590550"/>
          </a:xfrm>
          <a:prstGeom prst="roundRect">
            <a:avLst>
              <a:gd name="adj" fmla="val 17204"/>
            </a:avLst>
          </a:prstGeom>
          <a:solidFill>
            <a:srgbClr val="1F3144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1986282"/>
            <a:ext cx="412047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(seatsLeft &gt;= q) seatsLeft -= q;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22860" y="1986282"/>
            <a:ext cx="3223649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កូដសាមញ្ញ — អាន រួចសរសេរ ជា ២ ជំហាន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40332"/>
          <a:ext cx="10553700" cy="2063750"/>
        </p:xfrm>
        <a:graphic>
          <a:graphicData uri="http://schemas.openxmlformats.org/drawingml/2006/table">
            <a:tbl>
              <a:tblPr/>
              <a:tblGrid>
                <a:gridCol w="1688592"/>
                <a:gridCol w="4432554"/>
                <a:gridCol w="4432554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ពេល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អ្នកប្រើ A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អ្នកប្រើ B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4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t1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អាន: នៅសល់ 1 → OK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—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t2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—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អាន: នៅសល់ 1 → OK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t3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សរសេរ: 0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—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t4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C9D3D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—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សរសេរ: 0</a:t>
                      </a:r>
                      <a:endParaRPr lang="en-US" sz="15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4907282"/>
            <a:ext cx="1088339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0A04B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លទ្ធផល:</a:t>
            </a:r>
            <a:r>
              <a:rPr lang="en-US" sz="2000" dirty="0">
                <a:solidFill>
                  <a:srgbClr val="F0A04B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លក់ ២ សំបុត្រ សម្រាប់ ១ កៅអី — Overbooking!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ការរចនា · ច្បាប់ 1, 2 និង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1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ដំណោះស្រាយ: UPDATE តែមួយ ដែល atomic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5482"/>
            <a:ext cx="5130800" cy="1739900"/>
          </a:xfrm>
          <a:prstGeom prst="roundRect">
            <a:avLst>
              <a:gd name="adj" fmla="val 5839"/>
            </a:avLst>
          </a:prstGeom>
          <a:solidFill>
            <a:srgbClr val="13202E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138682"/>
            <a:ext cx="4866132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UPDATE Event e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 e.seatsLeft = e.seatsLeft - :q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e.id = :id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0A0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AND e.seatsLeft &gt;= :q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0A0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AND e.status = ACTIVE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3827782"/>
            <a:ext cx="5284724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Database lock row — ពិនិត្យ (WHERE) និងសរសេរ (SET) ក្នុងជំហានតែមួយ។ seatsLeft មិនដែលតិចជាង 0។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51575" y="1938657"/>
            <a:ext cx="5124450" cy="1102360"/>
          </a:xfrm>
          <a:prstGeom prst="roundRect">
            <a:avLst>
              <a:gd name="adj" fmla="val 8929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56680" y="2143761"/>
            <a:ext cx="485566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1 row ត្រូវបានកែ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56680" y="2550161"/>
            <a:ext cx="4855667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កាត់កៅអីបាន → បន្តកក់ → 201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51575" y="3199764"/>
            <a:ext cx="5124450" cy="2035810"/>
          </a:xfrm>
          <a:prstGeom prst="roundRect">
            <a:avLst>
              <a:gd name="adj" fmla="val 4835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6680" y="3404871"/>
            <a:ext cx="4855667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B5601A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0 row ត្រូវបានកែ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56680" y="3811271"/>
            <a:ext cx="4855667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Reload event ដើម្បីដឹងមូលហេតុ: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56680" y="4173221"/>
            <a:ext cx="4855667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រកមិនឃើញ → 404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CANCELLED → 409 (ច្បាប់ 5)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កៅអីមិនគ្រប់ → 409 (ច្បាប់ 1)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ការរចនា · ច្បាប់ផ្សេងទៀត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4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ច្បាប់នីមួយៗ នៅក្នុងកូដ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48179"/>
          <a:ext cx="10553700" cy="1930400"/>
        </p:xfrm>
        <a:graphic>
          <a:graphicData uri="http://schemas.openxmlformats.org/drawingml/2006/table">
            <a:tbl>
              <a:tblPr/>
              <a:tblGrid>
                <a:gridCol w="1055370"/>
                <a:gridCol w="3377184"/>
                <a:gridCol w="6121146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ច្បាប់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កន្លែង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វិធី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5D9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R2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BookingService.cancel()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@Transactional + PESSIMISTIC_WRITE lock — បោះបង់ពីរដង → 409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7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R3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CreateBookingRequest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@NotNull @Min(1) @Max(4) + @Valid → 400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R4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BookingService.create()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DTO គ្មាន field price។ តម្លៃ = price × quantity (BigDecimal)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2E7A3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R6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3202E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BookingService.checkOwner()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4A5361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username មកពី login មិនមែនពី request body → 403</a:t>
                      </a:r>
                      <a:endParaRPr lang="en-US" sz="14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ភស្តុតាង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4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Error និង Security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5479"/>
            <a:ext cx="528472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Error ជា JSON ស្តង់ដារ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2418079"/>
            <a:ext cx="528472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RFC 7807 ProblemDetail — ទម្រង់ដូចគ្នា គ្រប់ error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00" y="2856229"/>
            <a:ext cx="5130800" cy="1739900"/>
          </a:xfrm>
          <a:prstGeom prst="roundRect">
            <a:avLst>
              <a:gd name="adj" fmla="val 5839"/>
            </a:avLst>
          </a:prstGeom>
          <a:solidFill>
            <a:srgbClr val="13202E"/>
          </a:solidFill>
          <a:ln/>
        </p:spPr>
      </p:sp>
      <p:sp>
        <p:nvSpPr>
          <p:cNvPr id="7" name="Text 5"/>
          <p:cNvSpPr/>
          <p:nvPr/>
        </p:nvSpPr>
        <p:spPr>
          <a:xfrm>
            <a:off x="1016000" y="3059429"/>
            <a:ext cx="4866132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"status": 409,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"title": "Conflict",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"detail": "Event 2 is cancelled"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5F3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48400" y="1935479"/>
            <a:ext cx="528472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Security ពីរស្រទាប់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51575" y="2421254"/>
            <a:ext cx="5124450" cy="1000760"/>
          </a:xfrm>
          <a:prstGeom prst="roundRect">
            <a:avLst>
              <a:gd name="adj" fmla="val 9835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6680" y="2626364"/>
            <a:ext cx="4855667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Spring Security</a:t>
            </a: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— role ខុស → 403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56680" y="2988314"/>
            <a:ext cx="48556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ឧ. alice ព្យាយាមបោះបង់ event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1575" y="3580767"/>
            <a:ext cx="5124450" cy="1000760"/>
          </a:xfrm>
          <a:prstGeom prst="roundRect">
            <a:avLst>
              <a:gd name="adj" fmla="val 9835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6680" y="3785871"/>
            <a:ext cx="4855667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Service</a:t>
            </a:r>
            <a:r>
              <a:rPr lang="en-US" sz="1500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— មិនមែនម្ចាស់ → 403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56680" y="4147821"/>
            <a:ext cx="48556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ឧ. bob មើល booking របស់ alice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48400" y="4737100"/>
            <a:ext cx="52847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alice, bob = CUSTOMER · admin = ADMIN · គ្មាន login → 401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ភស្តុតាង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4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13202E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Tests បញ្ជាក់ថា ច្បាប់ដំណើរការ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8654"/>
            <a:ext cx="3380303" cy="1610360"/>
          </a:xfrm>
          <a:prstGeom prst="roundRect">
            <a:avLst>
              <a:gd name="adj" fmla="val 6112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143764"/>
            <a:ext cx="305919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20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021080" y="3058164"/>
            <a:ext cx="3059196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tests ទាំងអស់ ជាប់ — 0 fail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5828" y="1938654"/>
            <a:ext cx="3380343" cy="1610360"/>
          </a:xfrm>
          <a:prstGeom prst="roundRect">
            <a:avLst>
              <a:gd name="adj" fmla="val 6112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0934" y="2143764"/>
            <a:ext cx="305923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19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610934" y="3058164"/>
            <a:ext cx="3059237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scenario tests ជាមួយ MockMvc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95722" y="1938654"/>
            <a:ext cx="3380303" cy="1610360"/>
          </a:xfrm>
          <a:prstGeom prst="roundRect">
            <a:avLst>
              <a:gd name="adj" fmla="val 6112"/>
            </a:avLst>
          </a:prstGeom>
          <a:solidFill>
            <a:srgbClr val="FFFDF7"/>
          </a:solidFill>
          <a:ln w="6350">
            <a:solidFill>
              <a:srgbClr val="E2DE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00827" y="2143764"/>
            <a:ext cx="305919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2E7A3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8200827" y="3058164"/>
            <a:ext cx="3059196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threads កក់កៅអីចុងក្រោយ ព្រមគ្នា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800" y="3856992"/>
            <a:ext cx="10566400" cy="590550"/>
          </a:xfrm>
          <a:prstGeom prst="roundRect">
            <a:avLst>
              <a:gd name="adj" fmla="val 17204"/>
            </a:avLst>
          </a:prstGeom>
          <a:solidFill>
            <a:srgbClr val="132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16000" y="4009392"/>
            <a:ext cx="162893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Concurrency test: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97334" y="4009392"/>
            <a:ext cx="3885016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0A0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× 201 · 9 × 409 · seatsLeft =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4752342"/>
            <a:ext cx="10883392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4A5361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រត់ច្រើនដង — ជាប់រាល់ដង។ seatsLeft មិនដែលក្លាយជា −1។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7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មេរៀនសំខាន់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4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៣ យ៉ាង ដែលខ្ញុំបានរៀន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5479"/>
            <a:ext cx="558800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74800" y="2009142"/>
            <a:ext cx="100985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កុំជឿ client</a:t>
            </a:r>
            <a:r>
              <a:rPr lang="en-US" sz="2000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— តម្លៃ និង identity មកពី server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717800"/>
            <a:ext cx="558800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574800" y="2791464"/>
            <a:ext cx="100985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ពិនិត្យ និងសរសេរ</a:t>
            </a:r>
            <a:r>
              <a:rPr lang="en-US" sz="2000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ក្នុងជំហាន atomic តែមួយ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12800" y="3500121"/>
            <a:ext cx="558800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574800" y="3573779"/>
            <a:ext cx="100985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Transaction</a:t>
            </a:r>
            <a:r>
              <a:rPr lang="en-US" sz="2000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 — ជោគជ័យទាំងអស់ ឬត្រឡប់វិញទាំងអស់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0A04B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DEMO · ./gradlew bootRun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64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សាកល្បង ផ្ទាល់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48179"/>
          <a:ext cx="10553700" cy="1797050"/>
        </p:xfrm>
        <a:graphic>
          <a:graphicData uri="http://schemas.openxmlformats.org/drawingml/2006/table">
            <a:tbl>
              <a:tblPr/>
              <a:tblGrid>
                <a:gridCol w="6754368"/>
                <a:gridCol w="3799332"/>
              </a:tblGrid>
              <a:tr h="35941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Request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លទ្ធផល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4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alice · POST /api/bookings {"eventId":1,"quantity":2,"price":0.01}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0A04B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201 · totalPrice 50.00 (R4)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F5D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alice · POST /api/bookings {"eventId":2,"quantity":1}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0A04B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409 · event CANCELLED (R5)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alice · POST /api/bookings {"eventId":1,"quantity":5}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0A04B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400 · quantity &gt; 4 (R3)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5F3EC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bob · GET /api/bookings/1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0A04B"/>
                          </a:solidFill>
                          <a:latin typeface="Kantumruy Pro" pitchFamily="34" charset="0"/>
                          <a:ea typeface="Kantumruy Pro" pitchFamily="34" charset="-122"/>
                          <a:cs typeface="Kantumruy Pro" pitchFamily="34" charset="-120"/>
                        </a:rPr>
                        <a:t>403 · មិនមែនម្ចាស់ (R6)</a:t>
                      </a:r>
                      <a:endParaRPr lang="en-US" sz="1300" dirty="0">
                        <a:latin typeface="Kantumruy Pro" charset="0"/>
                        <a:ea typeface="Kantumruy Pro" charset="0"/>
                        <a:cs typeface="Kantumruy Pro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5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D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Source: github.com/NemSothea/event-tickets-api · ./gradlew test → 20 tests ជាប់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66342"/>
            <a:ext cx="10883392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6000" b="1" dirty="0">
                <a:solidFill>
                  <a:srgbClr val="F5F3E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សូមអរគុណ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12800" y="3660142"/>
            <a:ext cx="10883392" cy="553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60"/>
              </a:lnSpc>
              <a:buNone/>
            </a:pPr>
            <a:r>
              <a:rPr lang="en-US" sz="3200" b="1" dirty="0">
                <a:solidFill>
                  <a:srgbClr val="F0A04B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សំណួរ?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DC"/>
                </a:solidFill>
                <a:latin typeface="Kantumruy Pro" pitchFamily="34" charset="0"/>
                <a:ea typeface="Kantumruy Pro" pitchFamily="34" charset="-122"/>
                <a:cs typeface="Kantumruy Pro" pitchFamily="34" charset="-120"/>
              </a:rPr>
              <a:t>Sothea · github.com/NemSothea/event-tickets-api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 Tickets API Defense</dc:title>
  <dc:subject>PptxGenJS Presentation</dc:subject>
  <dc:creator>PptxGenJS</dc:creator>
  <cp:lastModifiedBy>PptxGenJS</cp:lastModifiedBy>
  <cp:revision>1</cp:revision>
  <dcterms:created xsi:type="dcterms:W3CDTF">2026-09-28T15:26:16Z</dcterms:created>
  <dcterms:modified xsi:type="dcterms:W3CDTF">2026-09-28T15:26:16Z</dcterms:modified>
</cp:coreProperties>
</file>